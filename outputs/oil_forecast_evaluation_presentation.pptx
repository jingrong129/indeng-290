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I'm [name], and today I'll be presenting our evaluation of EIA long-term Brent crude oil price forecasts. The central question is whether these institutional forecasts are actually useful for upstream investment planning — or whether their errors are large enough to undermine the capital allocation decisions that depend on them. Over the next twenty minutes, I'll walk you through our data, our methodology, and two key findings with direct implications for how energy firms should be using these price decks.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matters beyond forecasting statistics. Upstream oil and gas investments are large, long-lived, and largely irreversible. When a firm sanctions a deepwater field or commits to a major infrastructure project, it is committing capital that cannot easily be recovered if things go wrong.</a:t>
            </a:r>
          </a:p>
          <a:p/>
          <a:p>
            <a:r>
              <a:t>The chain of logic on this slide is the one used in every upstream investment decision. An oil price forecast feeds into a revenue projection. That projection goes into a discounted cash flow model to compute NPV and IRR. Based on those metrics, the investment committee approves or rejects.</a:t>
            </a:r>
          </a:p>
          <a:p/>
          <a:p>
            <a:r>
              <a:t>Here is the problem. If the price forecast feeding that DCF is systematically too high — if it is optimistically biased — then every downstream number is inflated. Revenue looks better than it should. NPV looks better. IRR clears the hurdle rate more easily. And the firm ends up approving projects it should not have, or approving them at too large a scale.</a:t>
            </a:r>
          </a:p>
          <a:p/>
          <a:p>
            <a:r>
              <a:t>That is the risk flagged at the bottom of this slide. Systematic overprediction creates a pipeline of overvalued projects that look attractive in the model but disappoint when realized prices arrive. This eventually shows up as write-downs and asset impairments.</a:t>
            </a:r>
          </a:p>
          <a:p/>
          <a:p>
            <a:r>
              <a:t>The quality of long-term price forecasts is therefore not an academic question. It has direct consequences for capital allocation — which is what makes this evaluation worth doing.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that context, our study is organized around three research questions.</a:t>
            </a:r>
          </a:p>
          <a:p/>
          <a:p>
            <a:r>
              <a:t>First: does EIA beat a naive benchmark? Before we can say a forecast is useful, we need to show it adds value beyond the simplest possible alternative. If EIA cannot beat a carry-forward rule, there is no empirical case for preferring it.</a:t>
            </a:r>
          </a:p>
          <a:p/>
          <a:p>
            <a:r>
              <a:t>Second: is there systematic bias? A forecast can have reasonable overall accuracy and still be consistently too high or too low. We test specifically for directional error that would affect investment decisions.</a:t>
            </a:r>
          </a:p>
          <a:p/>
          <a:p>
            <a:r>
              <a:t>Third: can simple models improve on EIA? We built rolling autoregressive models with and without futures price data, and tested whether they could reduce forecast error further.</a:t>
            </a:r>
          </a:p>
          <a:p/>
          <a:p>
            <a:r>
              <a:t>Throughout, we evaluate three-year and five-year ahead forecasts of annual average Brent Spot Price in real 2025 U.S. dollars per barrel.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 comes from four main sources.</a:t>
            </a:r>
          </a:p>
          <a:p/>
          <a:p>
            <a:r>
              <a:t>The primary forecast data is EIA's Annual Energy Outlook, Table 12, which reports long-term Brent price projections each year. We collected AEO releases from 2013 through 2023. There was no AEO published in 2024, so that year is excluded. This gives us eleven distinct vintage forecasts to evaluate.</a:t>
            </a:r>
          </a:p>
          <a:p/>
          <a:p>
            <a:r>
              <a:t>For realized Brent prices, we use FRED's daily Brent spot price series — DCOILBRENTEU — aggregated to annual averages. This is our outcome variable: what actually happened.</a:t>
            </a:r>
          </a:p>
          <a:p/>
          <a:p>
            <a:r>
              <a:t>Because different AEO vintages report prices in different base years, we cannot directly compare across vintages without standardizing. We use the FRED CPI series — CPIAUCSL — to convert all values to real 2025 U.S. dollars per barrel. This is a critical step that is easy to get wrong.</a:t>
            </a:r>
          </a:p>
          <a:p/>
          <a:p>
            <a:r>
              <a:t>For the rolling model extension we will describe later, we use the Yahoo Finance BZ=F front-month Brent futures contract as a market-based signal.</a:t>
            </a:r>
          </a:p>
          <a:p/>
          <a:p>
            <a:r>
              <a:t>One note: World Bank crude prices are available but track a composite crude average rather than Brent specifically, so we treat them as supplementary rather than core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through how we turn those raw data sources into an evaluation panel.</a:t>
            </a:r>
          </a:p>
          <a:p/>
          <a:p>
            <a:r>
              <a:t>We start with EIA vintage data from AEO Table 12. Each vintage gives us a multi-year forecast path. We extract the price predicted for three and five years ahead from each release date.</a:t>
            </a:r>
          </a:p>
          <a:p/>
          <a:p>
            <a:r>
              <a:t>In parallel, we compute annual average Brent prices from FRED's daily spot series. These are the realized outcomes we compare against.</a:t>
            </a:r>
          </a:p>
          <a:p/>
          <a:p>
            <a:r>
              <a:t>The CPI deflation step converts everything to real 2025 dollars. This is essential because EIA's own base years shift across vintages — without this step, a dollar comparison across years would be meaningless.</a:t>
            </a:r>
          </a:p>
          <a:p/>
          <a:p>
            <a:r>
              <a:t>After matching each forecast to its realized outcome, we have our evaluation panel: forecast-outcome pairs at three-year and five-year horizons for each vintage year. That is twenty observation pairs in total.</a:t>
            </a:r>
          </a:p>
          <a:p/>
          <a:p>
            <a:r>
              <a:t>The final piece is the random-walk benchmark, constructed in parallel. For each vintage, the random walk forecast is simply the most recent completed annual Brent average at the time of the AEO release.</a:t>
            </a:r>
          </a:p>
          <a:p/>
          <a:p>
            <a:r>
              <a:t>The result is eleven EIA vintage releases, twenty forecast-outcome pairs, and all values expressed in real 2025 dollars throughout.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explain our evaluation framework.</a:t>
            </a:r>
          </a:p>
          <a:p/>
          <a:p>
            <a:r>
              <a:t>The fundamental concept is simple: forecast error equals forecast minus realized. A positive error means the forecast was above the realized price — that is optimistic. A negative error means the forecast was below realized — that is pessimistic.</a:t>
            </a:r>
          </a:p>
          <a:p/>
          <a:p>
            <a:r>
              <a:t>From that base we compute four metrics. The Mean Error, or ME, is the average signed error. It tells us the direction and magnitude of bias. If ME is large and positive, forecasts are consistently too high on average. MAE and RMSE both measure average magnitude without sign cancellation — they tell us how far off forecasts typically are. And MAPE expresses error relative to realized price, giving a scale-free percentage.</a:t>
            </a:r>
          </a:p>
          <a:p/>
          <a:p>
            <a:r>
              <a:t>Now the benchmark. A random walk forecast means taking the most recently completed annual Brent price at the time of the AEO release and carrying it forward unchanged. No model. No analysis. Just the current level as the prediction.</a:t>
            </a:r>
          </a:p>
          <a:p/>
          <a:p>
            <a:r>
              <a:t>This is a meaningful benchmark for a specific reason. In commodity markets, current prices already reflect all publicly known information. The random walk hypothesis says that without private information or superior modeling, you cannot beat the current price as a forecast. If EIA beats this, the institutional modeling effort adds real value.</a:t>
            </a:r>
          </a:p>
          <a:p/>
          <a:p>
            <a:r>
              <a:t>And even if EIA beats this benchmark, we still need to check whether the forecasts are biased — because you can be informative and systematically wrong in one direction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going to the numbers, I want to show you what these forecasts actually look like.</a:t>
            </a:r>
          </a:p>
          <a:p/>
          <a:p>
            <a:r>
              <a:t>This chart plots each EIA vintage as a forecast path — what EIA projected Brent would do from the release year forward. The thick black line is realized annual Brent.</a:t>
            </a:r>
          </a:p>
          <a:p/>
          <a:p>
            <a:r>
              <a:t>The contrast is immediately visible. Every EIA vintage follows a smooth, gradual trajectory — forecasts are mean-reverting and steady. Realized Brent, by contrast, is highly volatile. It collapsed in 2014 and 2015, spiked in 2022, and generally moved in ways that no smooth trend line could anticipate.</a:t>
            </a:r>
          </a:p>
          <a:p/>
          <a:p>
            <a:r>
              <a:t>Two things stand out. First, the forecast paths tend to sit above realized prices during extended low-price periods. That is the visual signature of the optimistic bias we will quantify on the next slide.</a:t>
            </a:r>
          </a:p>
          <a:p/>
          <a:p>
            <a:r>
              <a:t>Second, the smoothness of the forecasts reflects the nature of long-run equilibrium modeling. EIA is projecting where oil prices should settle over time, not where they will be next quarter. That is a deliberate modeling choice — but it means forecasts are structurally unable to capture the supply shocks and demand disruptions that actually drive short-to-medium-run oil prices.</a:t>
            </a:r>
          </a:p>
          <a:p/>
          <a:p>
            <a:r>
              <a:t>This chart motivates the formal analysis. The pattern is visible; now we need to measure it precisely.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first key finding.</a:t>
            </a:r>
          </a:p>
          <a:p/>
          <a:p>
            <a:r>
              <a:t>At the three-year horizon, EIA's RMSE is 34.97 dollars per barrel, compared to 42.99 for the random walk. EIA wins by about nineteen percent. At the five-year horizon, EIA's RMSE is 34.32, against 47.34 for the random walk — a twenty-eight percent reduction.</a:t>
            </a:r>
          </a:p>
          <a:p/>
          <a:p>
            <a:r>
              <a:t>The same pattern holds for Mean Absolute Error. At three years, EIA's MAE is 26.01 against 31.66 for the random walk. At five years, 28.09 versus 38.90.</a:t>
            </a:r>
          </a:p>
          <a:p/>
          <a:p>
            <a:r>
              <a:t>EIA beats the random walk cleanly, on both metrics, at both horizons. That is our first finding: EIA long-term Brent forecasts contain real informational value.</a:t>
            </a:r>
          </a:p>
          <a:p/>
          <a:p>
            <a:r>
              <a:t>This is not a trivial result. Random walk forecasts are famously hard to beat for commodity prices, precisely because the current price already incorporates all publicly available information. The fact that EIA consistently clears this bar at both horizons tells us that the institutional modeling effort is producing something genuinely useful.</a:t>
            </a:r>
          </a:p>
          <a:p/>
          <a:p>
            <a:r>
              <a:t>Practically, this means you cannot dismiss EIA forecasts as uninformative. There is a statistical case for using them as an input rather than ignoring them.</a:t>
            </a:r>
          </a:p>
          <a:p/>
          <a:p>
            <a:r>
              <a:t>But — and this is critical — beating the random walk on RMSE does not mean the forecasts are unbiased. You can outperform a naive benchmark in overall accuracy while still being consistently wrong in one direction. That is exactly what the next slide reveals.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in my view, the most important finding in the study.</a:t>
            </a:r>
          </a:p>
          <a:p/>
          <a:p>
            <a:r>
              <a:t>At the three-year horizon, EIA's mean error is plus 20.44 dollars per barrel. At the five-year horizon, it is plus 26.64.</a:t>
            </a:r>
          </a:p>
          <a:p/>
          <a:p>
            <a:r>
              <a:t>Let me make sure that is clear. These are signed averages, not magnitudes. Positive means that on average, EIA forecasts sat roughly twenty to twenty-seven dollars above what actually happened. That is a substantial, persistent, directional bias toward optimism.</a:t>
            </a:r>
          </a:p>
          <a:p/>
          <a:p>
            <a:r>
              <a:t>To put twenty dollars per barrel in context: on a project producing one million barrels per year, that is twenty million dollars of annual revenue that exists only in the model, not in the world. Over a ten-year project life, you are looking at hundreds of millions of dollars of phantom revenue in the DCF. That is enough to push borderline projects over the hurdle rate.</a:t>
            </a:r>
          </a:p>
          <a:p/>
          <a:p>
            <a:r>
              <a:t>The risk box on the right captures the capital budgeting consequence. Higher forecast prices generate inflated revenue projections. Inflated revenues feed into the DCF. NPV and IRR both look better. Projects that should fail the hurdle rate instead pass it. That is a systematic bias toward over-approval of upstream investment.</a:t>
            </a:r>
          </a:p>
          <a:p/>
          <a:p>
            <a:r>
              <a:t>To be precise about what we have found: EIA forecasts are both informative and biased. They beat the random walk — that is the informative part. But they are consistently above realized prices by 20 to 27 dollars — that is the bias. Both findings are real, and the combination tells you exactly how to use these forecasts: with an adjustment, not as-is.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natural question is whether we can build a better forecast. We tested two extensions.</a:t>
            </a:r>
          </a:p>
          <a:p/>
          <a:p>
            <a:r>
              <a:t>The first is a rolling autoregressive model using lagged annual Brent prices estimated on an expanding window, predicting the next three- or five-year average out of sample. The second adds front-month BZ=F futures prices and the basis spread as additional regressors.</a:t>
            </a:r>
          </a:p>
          <a:p/>
          <a:p>
            <a:r>
              <a:t>The results are in the table. At three years, EIA's RMSE of 34.97 beats the rolling AR at 48.95 and the AR plus futures at 52.51. At five years, EIA's 34.32 beats the rolling AR at 51.24 and the AR plus futures at 53.23.</a:t>
            </a:r>
          </a:p>
          <a:p/>
          <a:p>
            <a:r>
              <a:t>Neither extension beats EIA. EIA remains the most accurate model in this comparison.</a:t>
            </a:r>
          </a:p>
          <a:p/>
          <a:p>
            <a:r>
              <a:t>A few caveats. Our rolling models are intentionally simple. The futures variable is a front-month contract, which is a rough proxy for long-horizon price expectations — it is not a forward curve. More sophisticated models using longer-dated futures or richer information sets might perform differently. And our out-of-sample window is limited by the sample size.</a:t>
            </a:r>
          </a:p>
          <a:p/>
          <a:p>
            <a:r>
              <a:t>For our purposes: EIA is the best available baseline in this comparison, and the simple extensions we tested do not change that conclusion.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step back and synthesize the findings before moving to implications.</a:t>
            </a:r>
          </a:p>
          <a:p/>
          <a:p>
            <a:r>
              <a:t>The results split into two clean messages.</a:t>
            </a:r>
          </a:p>
          <a:p/>
          <a:p>
            <a:r>
              <a:t>On the left: EIA is informative relative to a naive benchmark. It beats the random walk on RMSE and MAE at both horizons. That is real statistical evidence that institutional forecasting adds value. It means there is a genuine empirical case for using these forecasts as inputs rather than discarding them.</a:t>
            </a:r>
          </a:p>
          <a:p/>
          <a:p>
            <a:r>
              <a:t>On the right: the forecasts are biased enough to matter for investment decisions. A mean error of 20 to 27 dollars per barrel is not a rounding error. Over the life of a major upstream project, that level of systematic optimism can materially distort NPV calculations and lead to approval of projects that would not pass a realistic price test.</a:t>
            </a:r>
          </a:p>
          <a:p/>
          <a:p>
            <a:r>
              <a:t>These two results coexist. The forecast is informative and biased simultaneously.</a:t>
            </a:r>
          </a:p>
          <a:p/>
          <a:p>
            <a:r>
              <a:t>The management response has to reflect both parts. Do not discard EIA forecasts — that discards real signal. Do not use them mechanically — that embeds the bias directly into capital budgeting.</a:t>
            </a:r>
          </a:p>
          <a:p/>
          <a:p>
            <a:r>
              <a:t>The correct approach is to use EIA as a starting point, then apply a systematic correction. That is what the next slide recommends.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should upstream firms actually do?</a:t>
            </a:r>
          </a:p>
          <a:p/>
          <a:p>
            <a:r>
              <a:t>Four practical recommendations.</a:t>
            </a:r>
          </a:p>
          <a:p/>
          <a:p>
            <a:r>
              <a:t>First: use EIA as a baseline. It carries real informational content — it beats the random walk. Use it as the starting point for your price path. Do not build price decks from scratch, and do not ignore the institutional forecast.</a:t>
            </a:r>
          </a:p>
          <a:p/>
          <a:p>
            <a:r>
              <a:t>Second: apply a bias adjustment. Our results give you direct empirical guidance. At the three-year horizon, the historical mean error is around minus 20 dollars per barrel. At five years, around minus 27 dollars. That is the average correction needed to align EIA forecasts with realized prices. Apply it as a haircut to the baseline path, and run sensitivity analysis around it.</a:t>
            </a:r>
          </a:p>
          <a:p/>
          <a:p>
            <a:r>
              <a:t>Third: run downside scenarios. Bias adjustment corrects the average, but there is still substantial uncertainty around that average. Before sanctioning any major project, test it explicitly against a price path that reflects historical realized volatility — not just against a smooth, corrected trend line.</a:t>
            </a:r>
          </a:p>
          <a:p/>
          <a:p>
            <a:r>
              <a:t>Fourth: treat long-horizon price uncertainty as a capital allocation risk item. This uncertainty should appear explicitly in the project risk register, not be absorbed silently into a single deterministic price assumption. And it should influence how the organization calibrates its hurdle rate.</a:t>
            </a:r>
          </a:p>
          <a:p/>
          <a:p>
            <a:r>
              <a:t>The overall recommendation: adjust institutional forecasts rather than either discarding or mechanically applying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 transparent about the scope boundaries of this study.</a:t>
            </a:r>
          </a:p>
          <a:p/>
          <a:p>
            <a:r>
              <a:t>Our main analysis focuses on EIA. We have not compared it against the IEA or other institutional forecasters, so we cannot assess relative performance across institutions — only how EIA performs against a random walk.</a:t>
            </a:r>
          </a:p>
          <a:p/>
          <a:p>
            <a:r>
              <a:t>The World Bank crude oil price series tracks a composite crude average rather than Brent specifically, which is why we keep it as a supplementary check rather than a core comparison point.</a:t>
            </a:r>
          </a:p>
          <a:p/>
          <a:p>
            <a:r>
              <a:t>Our futures extension uses a front-month contract — a rough proxy. A proper futures-based model would require longer-dated contracts that were consistently available over the sample period.</a:t>
            </a:r>
          </a:p>
          <a:p/>
          <a:p>
            <a:r>
              <a:t>And at five-year horizons, our realized sample naturally contains only about ten to eleven outcome observations. That limits statistical precision and means we should interpret the results with appropriate caution.</a:t>
            </a:r>
          </a:p>
          <a:p/>
          <a:p>
            <a:r>
              <a:t>The most compelling next extension is bias-corrected EIA forecasts: applying the historical mean error as a systematic correction and testing whether adjusted forecasts outperform raw EIA out of sample. That follows directly from our main finding.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close with the bottom line.</a:t>
            </a:r>
          </a:p>
          <a:p/>
          <a:p>
            <a:r>
              <a:t>EIA long-term Brent forecasts are informative, but optimistically biased. Upstream firms should adjust them before using them in capital budgeting.</a:t>
            </a:r>
          </a:p>
          <a:p/>
          <a:p>
            <a:r>
              <a:t>Three takeaways. EIA beats the random walk — use it as a baseline, not a blank sheet. But with mean errors of 20 to 27 dollars per barrel, the bias is too large to ignore — apply a haircut before it enters the DCF. And treat price uncertainty as a risk management input, not a background assumption.</a:t>
            </a:r>
          </a:p>
          <a:p/>
          <a:p>
            <a:r>
              <a:t>The broader point is this: no long-horizon commodity price forecast is reliable enough to be used as truth. The best practice is to use institutional forecasts as informed starting points — acknowledge their limitations, correct for their biases, and stress-test against downside scenarios before capital is committed.</a:t>
            </a:r>
          </a:p>
          <a:p/>
          <a:p>
            <a:r>
              <a:t>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This table shows the full benchmark metric results for both EIA and the random walk at three-year and five-year horizons. ME, MAE, RMSE, and MAPE are all reported. Refer to this if the audience asks for numbers beyond what was shown on the main result slides.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B. Full metrics for the rolling AR and rolling AR plus futures models. Refer to this if the audience asks for the complete rolling model performance numbers including ME, MAE, and MAPE.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C. Data source links. Refer to this slide if the audience asks where the data came from or how to access the raw series used in the analysis.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 Reproducibility details. The full analysis is implemented as a structured Python package under src/oil_forecast_project. All six tests pass. Refer to this slide if the audience asks about how to replicate the results.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23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600200"/>
            <a:ext cx="9601200" cy="960120"/>
          </a:xfrm>
          <a:prstGeom prst="rect">
            <a:avLst/>
          </a:prstGeom>
          <a:noFill/>
        </p:spPr>
        <p:txBody>
          <a:bodyPr wrap="square" anchor="ctr" lIns="27432" rIns="27432" tIns="18288" bIns="18288">
            <a:noAutofit/>
          </a:bodyPr>
          <a:lstStyle/>
          <a:p>
            <a:pPr algn="l"/>
            <a:r>
              <a:rPr sz="3800" b="1">
                <a:solidFill>
                  <a:srgbClr val="FFFFFF"/>
                </a:solidFill>
                <a:latin typeface="Aptos"/>
              </a:rPr>
              <a:t>Long-Term Oil Price Forecast Evaluation</a:t>
            </a:r>
          </a:p>
        </p:txBody>
      </p:sp>
      <p:sp>
        <p:nvSpPr>
          <p:cNvPr id="4" name="Rectangle 3"/>
          <p:cNvSpPr/>
          <p:nvPr/>
        </p:nvSpPr>
        <p:spPr>
          <a:xfrm>
            <a:off x="713232" y="2578608"/>
            <a:ext cx="256032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24912"/>
            <a:ext cx="8961120" cy="512064"/>
          </a:xfrm>
          <a:prstGeom prst="rect">
            <a:avLst/>
          </a:prstGeom>
          <a:noFill/>
        </p:spPr>
        <p:txBody>
          <a:bodyPr wrap="square" anchor="ctr" lIns="27432" rIns="27432" tIns="18288" bIns="18288">
            <a:noAutofit/>
          </a:bodyPr>
          <a:lstStyle/>
          <a:p>
            <a:pPr algn="l"/>
            <a:r>
              <a:rPr sz="1800" b="0">
                <a:solidFill>
                  <a:srgbClr val="BED4E4"/>
                </a:solidFill>
                <a:latin typeface="Aptos"/>
              </a:rPr>
              <a:t>Are institutional Brent forecasts useful for upstream investment planning?</a:t>
            </a:r>
          </a:p>
        </p:txBody>
      </p:sp>
      <p:sp>
        <p:nvSpPr>
          <p:cNvPr id="6" name="Rectangle 5"/>
          <p:cNvSpPr/>
          <p:nvPr/>
        </p:nvSpPr>
        <p:spPr>
          <a:xfrm>
            <a:off x="8275320" y="3639312"/>
            <a:ext cx="329184" cy="1645920"/>
          </a:xfrm>
          <a:prstGeom prst="rect">
            <a:avLst/>
          </a:prstGeom>
          <a:solidFill>
            <a:srgbClr val="25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78240" y="2816352"/>
            <a:ext cx="329184" cy="246888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281160" y="4096512"/>
            <a:ext cx="329184" cy="1188720"/>
          </a:xfrm>
          <a:prstGeom prst="rect">
            <a:avLst/>
          </a:prstGeom>
          <a:solidFill>
            <a:srgbClr val="CE74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784080" y="3273552"/>
            <a:ext cx="329184" cy="2011680"/>
          </a:xfrm>
          <a:prstGeom prst="rect">
            <a:avLst/>
          </a:prstGeom>
          <a:solidFill>
            <a:srgbClr val="AA4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053328"/>
            <a:ext cx="7315200" cy="292608"/>
          </a:xfrm>
          <a:prstGeom prst="rect">
            <a:avLst/>
          </a:prstGeom>
          <a:noFill/>
        </p:spPr>
        <p:txBody>
          <a:bodyPr wrap="square" anchor="ctr" lIns="27432" rIns="27432" tIns="18288" bIns="18288">
            <a:noAutofit/>
          </a:bodyPr>
          <a:lstStyle/>
          <a:p>
            <a:pPr algn="l"/>
            <a:r>
              <a:rPr sz="1150" b="0">
                <a:solidFill>
                  <a:srgbClr val="5A738C"/>
                </a:solidFill>
                <a:latin typeface="Aptos"/>
              </a:rPr>
              <a:t>Berkeley Energy Project  |  Annual Brent Spot Price in real 2025 USD/bbl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Decision Context</a:t>
            </a:r>
          </a:p>
        </p:txBody>
      </p:sp>
      <p:sp>
        <p:nvSpPr>
          <p:cNvPr id="3" name="TextBox 2"/>
          <p:cNvSpPr txBox="1"/>
          <p:nvPr/>
        </p:nvSpPr>
        <p:spPr>
          <a:xfrm>
            <a:off x="594360" y="804672"/>
            <a:ext cx="10515600" cy="274320"/>
          </a:xfrm>
          <a:prstGeom prst="rect">
            <a:avLst/>
          </a:prstGeom>
          <a:noFill/>
        </p:spPr>
        <p:txBody>
          <a:bodyPr wrap="square" anchor="ctr" lIns="27432" rIns="27432" tIns="18288" bIns="18288">
            <a:noAutofit/>
          </a:bodyPr>
          <a:lstStyle/>
          <a:p>
            <a:pPr algn="l"/>
            <a:r>
              <a:rPr sz="1300" b="0">
                <a:solidFill>
                  <a:srgbClr val="6C7682"/>
                </a:solidFill>
                <a:latin typeface="Aptos"/>
              </a:rPr>
              <a:t>Why forecast accuracy matters for upstream oil and gas firms</a:t>
            </a:r>
          </a:p>
        </p:txBody>
      </p:sp>
      <p:sp>
        <p:nvSpPr>
          <p:cNvPr id="4" name="Rectangle 3"/>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2</a:t>
            </a:r>
          </a:p>
        </p:txBody>
      </p:sp>
      <p:sp>
        <p:nvSpPr>
          <p:cNvPr id="6" name="TextBox 5"/>
          <p:cNvSpPr txBox="1"/>
          <p:nvPr/>
        </p:nvSpPr>
        <p:spPr>
          <a:xfrm>
            <a:off x="658368" y="1298448"/>
            <a:ext cx="10881360" cy="365760"/>
          </a:xfrm>
          <a:prstGeom prst="rect">
            <a:avLst/>
          </a:prstGeom>
          <a:noFill/>
        </p:spPr>
        <p:txBody>
          <a:bodyPr wrap="square" anchor="ctr" lIns="27432" rIns="27432" tIns="18288" bIns="18288">
            <a:noAutofit/>
          </a:bodyPr>
          <a:lstStyle/>
          <a:p>
            <a:pPr algn="l"/>
            <a:r>
              <a:rPr sz="1700" b="0">
                <a:solidFill>
                  <a:srgbClr val="142236"/>
                </a:solidFill>
                <a:latin typeface="Aptos"/>
              </a:rPr>
              <a:t>Upstream capital projects are large, long-lived, and partially irreversible. Oil price assumptions flow directly into DCF valuations.</a:t>
            </a:r>
          </a:p>
        </p:txBody>
      </p:sp>
      <p:sp>
        <p:nvSpPr>
          <p:cNvPr id="7" name="Rounded Rectangle 6"/>
          <p:cNvSpPr/>
          <p:nvPr/>
        </p:nvSpPr>
        <p:spPr>
          <a:xfrm>
            <a:off x="1542135" y="2029968"/>
            <a:ext cx="1920240" cy="960120"/>
          </a:xfrm>
          <a:prstGeom prst="roundRect">
            <a:avLst/>
          </a:prstGeom>
          <a:solidFill>
            <a:srgbClr val="E6F2F1"/>
          </a:solidFill>
          <a:ln w="19050">
            <a:solidFill>
              <a:srgbClr val="2D8B8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pPr>
            <a:r>
              <a:rPr sz="1600" b="1">
                <a:solidFill>
                  <a:srgbClr val="142236"/>
                </a:solidFill>
                <a:latin typeface="Aptos"/>
              </a:rPr>
              <a:t>Oil Price
Forecast</a:t>
            </a:r>
          </a:p>
        </p:txBody>
      </p:sp>
      <p:sp>
        <p:nvSpPr>
          <p:cNvPr id="8" name="TextBox 7"/>
          <p:cNvSpPr txBox="1"/>
          <p:nvPr/>
        </p:nvSpPr>
        <p:spPr>
          <a:xfrm>
            <a:off x="3544671" y="2340864"/>
            <a:ext cx="310896" cy="347472"/>
          </a:xfrm>
          <a:prstGeom prst="rect">
            <a:avLst/>
          </a:prstGeom>
          <a:noFill/>
        </p:spPr>
        <p:txBody>
          <a:bodyPr wrap="square" anchor="ctr" lIns="27432" rIns="27432" tIns="18288" bIns="18288">
            <a:noAutofit/>
          </a:bodyPr>
          <a:lstStyle/>
          <a:p>
            <a:pPr algn="ctr"/>
            <a:r>
              <a:rPr sz="2200" b="1">
                <a:solidFill>
                  <a:srgbClr val="2D8B84"/>
                </a:solidFill>
                <a:latin typeface="Aptos"/>
              </a:rPr>
              <a:t>→</a:t>
            </a:r>
          </a:p>
        </p:txBody>
      </p:sp>
      <p:sp>
        <p:nvSpPr>
          <p:cNvPr id="9" name="Rounded Rectangle 8"/>
          <p:cNvSpPr/>
          <p:nvPr/>
        </p:nvSpPr>
        <p:spPr>
          <a:xfrm>
            <a:off x="3937863" y="2029968"/>
            <a:ext cx="1920240" cy="960120"/>
          </a:xfrm>
          <a:prstGeom prst="roundRect">
            <a:avLst/>
          </a:prstGeom>
          <a:solidFill>
            <a:srgbClr val="E6F2F1"/>
          </a:solidFill>
          <a:ln w="19050">
            <a:solidFill>
              <a:srgbClr val="2D8B8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pPr>
            <a:r>
              <a:rPr sz="1600" b="1">
                <a:solidFill>
                  <a:srgbClr val="142236"/>
                </a:solidFill>
                <a:latin typeface="Aptos"/>
              </a:rPr>
              <a:t>Revenue
Projection</a:t>
            </a:r>
          </a:p>
        </p:txBody>
      </p:sp>
      <p:sp>
        <p:nvSpPr>
          <p:cNvPr id="10" name="TextBox 9"/>
          <p:cNvSpPr txBox="1"/>
          <p:nvPr/>
        </p:nvSpPr>
        <p:spPr>
          <a:xfrm>
            <a:off x="5940399" y="2340864"/>
            <a:ext cx="310896" cy="347472"/>
          </a:xfrm>
          <a:prstGeom prst="rect">
            <a:avLst/>
          </a:prstGeom>
          <a:noFill/>
        </p:spPr>
        <p:txBody>
          <a:bodyPr wrap="square" anchor="ctr" lIns="27432" rIns="27432" tIns="18288" bIns="18288">
            <a:noAutofit/>
          </a:bodyPr>
          <a:lstStyle/>
          <a:p>
            <a:pPr algn="ctr"/>
            <a:r>
              <a:rPr sz="2200" b="1">
                <a:solidFill>
                  <a:srgbClr val="2D8B84"/>
                </a:solidFill>
                <a:latin typeface="Aptos"/>
              </a:rPr>
              <a:t>→</a:t>
            </a:r>
          </a:p>
        </p:txBody>
      </p:sp>
      <p:sp>
        <p:nvSpPr>
          <p:cNvPr id="11" name="Rounded Rectangle 10"/>
          <p:cNvSpPr/>
          <p:nvPr/>
        </p:nvSpPr>
        <p:spPr>
          <a:xfrm>
            <a:off x="6333591" y="2029968"/>
            <a:ext cx="1920240" cy="960120"/>
          </a:xfrm>
          <a:prstGeom prst="roundRect">
            <a:avLst/>
          </a:prstGeom>
          <a:solidFill>
            <a:srgbClr val="E6F2F1"/>
          </a:solidFill>
          <a:ln w="19050">
            <a:solidFill>
              <a:srgbClr val="2D8B8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pPr>
            <a:r>
              <a:rPr sz="1600" b="1">
                <a:solidFill>
                  <a:srgbClr val="142236"/>
                </a:solidFill>
                <a:latin typeface="Aptos"/>
              </a:rPr>
              <a:t>DCF / NPV
/ IRR</a:t>
            </a:r>
          </a:p>
        </p:txBody>
      </p:sp>
      <p:sp>
        <p:nvSpPr>
          <p:cNvPr id="12" name="TextBox 11"/>
          <p:cNvSpPr txBox="1"/>
          <p:nvPr/>
        </p:nvSpPr>
        <p:spPr>
          <a:xfrm>
            <a:off x="8336127" y="2340864"/>
            <a:ext cx="310896" cy="347472"/>
          </a:xfrm>
          <a:prstGeom prst="rect">
            <a:avLst/>
          </a:prstGeom>
          <a:noFill/>
        </p:spPr>
        <p:txBody>
          <a:bodyPr wrap="square" anchor="ctr" lIns="27432" rIns="27432" tIns="18288" bIns="18288">
            <a:noAutofit/>
          </a:bodyPr>
          <a:lstStyle/>
          <a:p>
            <a:pPr algn="ctr"/>
            <a:r>
              <a:rPr sz="2200" b="1">
                <a:solidFill>
                  <a:srgbClr val="2D8B84"/>
                </a:solidFill>
                <a:latin typeface="Aptos"/>
              </a:rPr>
              <a:t>→</a:t>
            </a:r>
          </a:p>
        </p:txBody>
      </p:sp>
      <p:sp>
        <p:nvSpPr>
          <p:cNvPr id="13" name="Rounded Rectangle 12"/>
          <p:cNvSpPr/>
          <p:nvPr/>
        </p:nvSpPr>
        <p:spPr>
          <a:xfrm>
            <a:off x="8729319" y="2029968"/>
            <a:ext cx="1920240" cy="960120"/>
          </a:xfrm>
          <a:prstGeom prst="roundRect">
            <a:avLst/>
          </a:prstGeom>
          <a:solidFill>
            <a:srgbClr val="E6F2F1"/>
          </a:solidFill>
          <a:ln w="19050">
            <a:solidFill>
              <a:srgbClr val="2D8B8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pPr>
            <a:r>
              <a:rPr sz="1600" b="1">
                <a:solidFill>
                  <a:srgbClr val="142236"/>
                </a:solidFill>
                <a:latin typeface="Aptos"/>
              </a:rPr>
              <a:t>Investment
Decision</a:t>
            </a:r>
          </a:p>
        </p:txBody>
      </p:sp>
      <p:sp>
        <p:nvSpPr>
          <p:cNvPr id="14" name="Rectangle 13"/>
          <p:cNvSpPr/>
          <p:nvPr/>
        </p:nvSpPr>
        <p:spPr>
          <a:xfrm>
            <a:off x="658368" y="3246120"/>
            <a:ext cx="10881360" cy="12700"/>
          </a:xfrm>
          <a:prstGeom prst="rect">
            <a:avLst/>
          </a:prstGeom>
          <a:solidFill>
            <a:srgbClr val="CE74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364992"/>
            <a:ext cx="10881360" cy="457200"/>
          </a:xfrm>
          <a:prstGeom prst="rect">
            <a:avLst/>
          </a:prstGeom>
          <a:noFill/>
        </p:spPr>
        <p:txBody>
          <a:bodyPr wrap="square" anchor="ctr" lIns="27432" rIns="27432" tIns="18288" bIns="18288">
            <a:noAutofit/>
          </a:bodyPr>
          <a:lstStyle/>
          <a:p>
            <a:pPr algn="ctr"/>
            <a:r>
              <a:rPr sz="1900" b="1">
                <a:solidFill>
                  <a:srgbClr val="CE742B"/>
                </a:solidFill>
                <a:latin typeface="Aptos"/>
              </a:rPr>
              <a:t>⚠   Risk: Systematic overprediction encourages overinvestment and future asset impairments.</a:t>
            </a:r>
          </a:p>
        </p:txBody>
      </p:sp>
      <p:sp>
        <p:nvSpPr>
          <p:cNvPr id="16" name="TextBox 15"/>
          <p:cNvSpPr txBox="1"/>
          <p:nvPr/>
        </p:nvSpPr>
        <p:spPr>
          <a:xfrm>
            <a:off x="1371600" y="4005072"/>
            <a:ext cx="9418320" cy="1645920"/>
          </a:xfrm>
          <a:prstGeom prst="rect">
            <a:avLst/>
          </a:prstGeom>
          <a:noFill/>
        </p:spPr>
        <p:txBody>
          <a:bodyPr wrap="square" anchor="t" lIns="36576" rIns="36576" tIns="36576" bIns="36576">
            <a:noAutofit/>
          </a:bodyPr>
          <a:lstStyle/>
          <a:p>
            <a:pPr algn="l">
              <a:lnSpc>
                <a:spcPct val="115000"/>
              </a:lnSpc>
            </a:pPr>
            <a:r>
              <a:rPr sz="1800">
                <a:solidFill>
                  <a:srgbClr val="142236"/>
                </a:solidFill>
                <a:latin typeface="Aptos"/>
              </a:rPr>
              <a:t>•  Large upfront capital commitments with multi-year payoff horizons</a:t>
            </a:r>
          </a:p>
          <a:p>
            <a:pPr algn="l">
              <a:lnSpc>
                <a:spcPct val="115000"/>
              </a:lnSpc>
              <a:spcBef>
                <a:spcPts val="700"/>
              </a:spcBef>
            </a:pPr>
            <a:r>
              <a:rPr sz="1800">
                <a:solidFill>
                  <a:srgbClr val="142236"/>
                </a:solidFill>
                <a:latin typeface="Aptos"/>
              </a:rPr>
              <a:t>•  Price assumptions drive revenue projections, NPV, and IRR</a:t>
            </a:r>
          </a:p>
          <a:p>
            <a:pPr algn="l">
              <a:lnSpc>
                <a:spcPct val="115000"/>
              </a:lnSpc>
              <a:spcBef>
                <a:spcPts val="700"/>
              </a:spcBef>
            </a:pPr>
            <a:r>
              <a:rPr sz="1800">
                <a:solidFill>
                  <a:srgbClr val="142236"/>
                </a:solidFill>
                <a:latin typeface="Aptos"/>
              </a:rPr>
              <a:t>•  Partially irreversible decisions — cost of over-approval is high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Research Questions</a:t>
            </a:r>
          </a:p>
        </p:txBody>
      </p:sp>
      <p:sp>
        <p:nvSpPr>
          <p:cNvPr id="3" name="Rectangle 2"/>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3</a:t>
            </a:r>
          </a:p>
        </p:txBody>
      </p:sp>
      <p:sp>
        <p:nvSpPr>
          <p:cNvPr id="5" name="Oval 4"/>
          <p:cNvSpPr/>
          <p:nvPr/>
        </p:nvSpPr>
        <p:spPr>
          <a:xfrm>
            <a:off x="658368" y="1463040"/>
            <a:ext cx="566928" cy="566928"/>
          </a:xfrm>
          <a:prstGeom prst="ellipse">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800" b="1">
                <a:solidFill>
                  <a:srgbClr val="FFFFFF"/>
                </a:solidFill>
                <a:latin typeface="Aptos"/>
              </a:rPr>
              <a:t>1</a:t>
            </a:r>
          </a:p>
        </p:txBody>
      </p:sp>
      <p:sp>
        <p:nvSpPr>
          <p:cNvPr id="6" name="TextBox 5"/>
          <p:cNvSpPr txBox="1"/>
          <p:nvPr/>
        </p:nvSpPr>
        <p:spPr>
          <a:xfrm>
            <a:off x="1444752" y="1389888"/>
            <a:ext cx="10058400" cy="420624"/>
          </a:xfrm>
          <a:prstGeom prst="rect">
            <a:avLst/>
          </a:prstGeom>
          <a:noFill/>
        </p:spPr>
        <p:txBody>
          <a:bodyPr wrap="square" anchor="ctr" lIns="27432" rIns="27432" tIns="18288" bIns="18288">
            <a:noAutofit/>
          </a:bodyPr>
          <a:lstStyle/>
          <a:p>
            <a:pPr algn="l"/>
            <a:r>
              <a:rPr sz="2100" b="1">
                <a:solidFill>
                  <a:srgbClr val="142236"/>
                </a:solidFill>
                <a:latin typeface="Aptos"/>
              </a:rPr>
              <a:t>Does EIA beat a naive benchmark?</a:t>
            </a:r>
          </a:p>
        </p:txBody>
      </p:sp>
      <p:sp>
        <p:nvSpPr>
          <p:cNvPr id="7" name="TextBox 6"/>
          <p:cNvSpPr txBox="1"/>
          <p:nvPr/>
        </p:nvSpPr>
        <p:spPr>
          <a:xfrm>
            <a:off x="1444752" y="1810512"/>
            <a:ext cx="10058400" cy="347472"/>
          </a:xfrm>
          <a:prstGeom prst="rect">
            <a:avLst/>
          </a:prstGeom>
          <a:noFill/>
        </p:spPr>
        <p:txBody>
          <a:bodyPr wrap="square" anchor="ctr" lIns="27432" rIns="27432" tIns="18288" bIns="18288">
            <a:noAutofit/>
          </a:bodyPr>
          <a:lstStyle/>
          <a:p>
            <a:pPr algn="l"/>
            <a:r>
              <a:rPr sz="1500" b="0">
                <a:solidFill>
                  <a:srgbClr val="6C7682"/>
                </a:solidFill>
                <a:latin typeface="Aptos"/>
              </a:rPr>
              <a:t>Does the institutional forecast outperform a simple random-walk carry-forward rule?</a:t>
            </a:r>
          </a:p>
        </p:txBody>
      </p:sp>
      <p:sp>
        <p:nvSpPr>
          <p:cNvPr id="8" name="Rectangle 7"/>
          <p:cNvSpPr/>
          <p:nvPr/>
        </p:nvSpPr>
        <p:spPr>
          <a:xfrm>
            <a:off x="658368" y="2377440"/>
            <a:ext cx="10927080" cy="127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2907792"/>
            <a:ext cx="566928" cy="566928"/>
          </a:xfrm>
          <a:prstGeom prst="ellipse">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800" b="1">
                <a:solidFill>
                  <a:srgbClr val="FFFFFF"/>
                </a:solidFill>
                <a:latin typeface="Aptos"/>
              </a:rPr>
              <a:t>2</a:t>
            </a:r>
          </a:p>
        </p:txBody>
      </p:sp>
      <p:sp>
        <p:nvSpPr>
          <p:cNvPr id="10" name="TextBox 9"/>
          <p:cNvSpPr txBox="1"/>
          <p:nvPr/>
        </p:nvSpPr>
        <p:spPr>
          <a:xfrm>
            <a:off x="1444752" y="2834640"/>
            <a:ext cx="10058400" cy="420624"/>
          </a:xfrm>
          <a:prstGeom prst="rect">
            <a:avLst/>
          </a:prstGeom>
          <a:noFill/>
        </p:spPr>
        <p:txBody>
          <a:bodyPr wrap="square" anchor="ctr" lIns="27432" rIns="27432" tIns="18288" bIns="18288">
            <a:noAutofit/>
          </a:bodyPr>
          <a:lstStyle/>
          <a:p>
            <a:pPr algn="l"/>
            <a:r>
              <a:rPr sz="2100" b="1">
                <a:solidFill>
                  <a:srgbClr val="142236"/>
                </a:solidFill>
                <a:latin typeface="Aptos"/>
              </a:rPr>
              <a:t>Is there systematic forecast bias?</a:t>
            </a:r>
          </a:p>
        </p:txBody>
      </p:sp>
      <p:sp>
        <p:nvSpPr>
          <p:cNvPr id="11" name="TextBox 10"/>
          <p:cNvSpPr txBox="1"/>
          <p:nvPr/>
        </p:nvSpPr>
        <p:spPr>
          <a:xfrm>
            <a:off x="1444752" y="3255264"/>
            <a:ext cx="10058400" cy="347472"/>
          </a:xfrm>
          <a:prstGeom prst="rect">
            <a:avLst/>
          </a:prstGeom>
          <a:noFill/>
        </p:spPr>
        <p:txBody>
          <a:bodyPr wrap="square" anchor="ctr" lIns="27432" rIns="27432" tIns="18288" bIns="18288">
            <a:noAutofit/>
          </a:bodyPr>
          <a:lstStyle/>
          <a:p>
            <a:pPr algn="l"/>
            <a:r>
              <a:rPr sz="1500" b="0">
                <a:solidFill>
                  <a:srgbClr val="6C7682"/>
                </a:solidFill>
                <a:latin typeface="Aptos"/>
              </a:rPr>
              <a:t>Does EIA consistently overpredict or underpredict realized annual Brent prices?</a:t>
            </a:r>
          </a:p>
        </p:txBody>
      </p:sp>
      <p:sp>
        <p:nvSpPr>
          <p:cNvPr id="12" name="Rectangle 11"/>
          <p:cNvSpPr/>
          <p:nvPr/>
        </p:nvSpPr>
        <p:spPr>
          <a:xfrm>
            <a:off x="658368" y="3822192"/>
            <a:ext cx="10927080" cy="127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352544"/>
            <a:ext cx="566928" cy="566928"/>
          </a:xfrm>
          <a:prstGeom prst="ellipse">
            <a:avLst/>
          </a:prstGeom>
          <a:solidFill>
            <a:srgbClr val="25639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800" b="1">
                <a:solidFill>
                  <a:srgbClr val="FFFFFF"/>
                </a:solidFill>
                <a:latin typeface="Aptos"/>
              </a:rPr>
              <a:t>3</a:t>
            </a:r>
          </a:p>
        </p:txBody>
      </p:sp>
      <p:sp>
        <p:nvSpPr>
          <p:cNvPr id="14" name="TextBox 13"/>
          <p:cNvSpPr txBox="1"/>
          <p:nvPr/>
        </p:nvSpPr>
        <p:spPr>
          <a:xfrm>
            <a:off x="1444752" y="4279392"/>
            <a:ext cx="10058400" cy="420624"/>
          </a:xfrm>
          <a:prstGeom prst="rect">
            <a:avLst/>
          </a:prstGeom>
          <a:noFill/>
        </p:spPr>
        <p:txBody>
          <a:bodyPr wrap="square" anchor="ctr" lIns="27432" rIns="27432" tIns="18288" bIns="18288">
            <a:noAutofit/>
          </a:bodyPr>
          <a:lstStyle/>
          <a:p>
            <a:pPr algn="l"/>
            <a:r>
              <a:rPr sz="2100" b="1">
                <a:solidFill>
                  <a:srgbClr val="142236"/>
                </a:solidFill>
                <a:latin typeface="Aptos"/>
              </a:rPr>
              <a:t>Can simple models improve on EIA?</a:t>
            </a:r>
          </a:p>
        </p:txBody>
      </p:sp>
      <p:sp>
        <p:nvSpPr>
          <p:cNvPr id="15" name="TextBox 14"/>
          <p:cNvSpPr txBox="1"/>
          <p:nvPr/>
        </p:nvSpPr>
        <p:spPr>
          <a:xfrm>
            <a:off x="1444752" y="4700016"/>
            <a:ext cx="10058400" cy="347472"/>
          </a:xfrm>
          <a:prstGeom prst="rect">
            <a:avLst/>
          </a:prstGeom>
          <a:noFill/>
        </p:spPr>
        <p:txBody>
          <a:bodyPr wrap="square" anchor="ctr" lIns="27432" rIns="27432" tIns="18288" bIns="18288">
            <a:noAutofit/>
          </a:bodyPr>
          <a:lstStyle/>
          <a:p>
            <a:pPr algn="l"/>
            <a:r>
              <a:rPr sz="1500" b="0">
                <a:solidFill>
                  <a:srgbClr val="6C7682"/>
                </a:solidFill>
                <a:latin typeface="Aptos"/>
              </a:rPr>
              <a:t>Do rolling AR models with or without futures data reduce forecast error further?</a:t>
            </a:r>
          </a:p>
        </p:txBody>
      </p:sp>
      <p:sp>
        <p:nvSpPr>
          <p:cNvPr id="16" name="TextBox 15"/>
          <p:cNvSpPr txBox="1"/>
          <p:nvPr/>
        </p:nvSpPr>
        <p:spPr>
          <a:xfrm>
            <a:off x="658368" y="5833872"/>
            <a:ext cx="10881360" cy="347472"/>
          </a:xfrm>
          <a:prstGeom prst="rect">
            <a:avLst/>
          </a:prstGeom>
          <a:noFill/>
        </p:spPr>
        <p:txBody>
          <a:bodyPr wrap="square" anchor="ctr" lIns="27432" rIns="27432" tIns="18288" bIns="18288">
            <a:noAutofit/>
          </a:bodyPr>
          <a:lstStyle/>
          <a:p>
            <a:pPr algn="ctr"/>
            <a:r>
              <a:rPr sz="1350" b="0">
                <a:solidFill>
                  <a:srgbClr val="6C7682"/>
                </a:solidFill>
                <a:latin typeface="Aptos"/>
              </a:rPr>
              <a:t>Horizons evaluated: 3-year and 5-year ahead forecasts of annual average Brent Spot Price in real 2025 USD/bbl.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Data and Scope</a:t>
            </a:r>
          </a:p>
        </p:txBody>
      </p:sp>
      <p:sp>
        <p:nvSpPr>
          <p:cNvPr id="3" name="TextBox 2"/>
          <p:cNvSpPr txBox="1"/>
          <p:nvPr/>
        </p:nvSpPr>
        <p:spPr>
          <a:xfrm>
            <a:off x="594360" y="804672"/>
            <a:ext cx="10515600" cy="274320"/>
          </a:xfrm>
          <a:prstGeom prst="rect">
            <a:avLst/>
          </a:prstGeom>
          <a:noFill/>
        </p:spPr>
        <p:txBody>
          <a:bodyPr wrap="square" anchor="ctr" lIns="27432" rIns="27432" tIns="18288" bIns="18288">
            <a:noAutofit/>
          </a:bodyPr>
          <a:lstStyle/>
          <a:p>
            <a:pPr algn="l"/>
            <a:r>
              <a:rPr sz="1300" b="0">
                <a:solidFill>
                  <a:srgbClr val="6C7682"/>
                </a:solidFill>
                <a:latin typeface="Aptos"/>
              </a:rPr>
              <a:t>Building a reproducible forecast vintage panel</a:t>
            </a:r>
          </a:p>
        </p:txBody>
      </p:sp>
      <p:sp>
        <p:nvSpPr>
          <p:cNvPr id="4" name="Rectangle 3"/>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4</a:t>
            </a:r>
          </a:p>
        </p:txBody>
      </p:sp>
      <p:sp>
        <p:nvSpPr>
          <p:cNvPr id="6" name="TextBox 5"/>
          <p:cNvSpPr txBox="1"/>
          <p:nvPr/>
        </p:nvSpPr>
        <p:spPr>
          <a:xfrm>
            <a:off x="658368" y="1280160"/>
            <a:ext cx="3246120" cy="347472"/>
          </a:xfrm>
          <a:prstGeom prst="rect">
            <a:avLst/>
          </a:prstGeom>
          <a:noFill/>
        </p:spPr>
        <p:txBody>
          <a:bodyPr wrap="square" anchor="ctr" lIns="27432" rIns="27432" tIns="18288" bIns="18288">
            <a:noAutofit/>
          </a:bodyPr>
          <a:lstStyle/>
          <a:p>
            <a:pPr algn="l"/>
            <a:r>
              <a:rPr sz="1550" b="1">
                <a:solidFill>
                  <a:srgbClr val="2D8B84"/>
                </a:solidFill>
                <a:latin typeface="Aptos"/>
              </a:rPr>
              <a:t>EIA AEO Table 12</a:t>
            </a:r>
          </a:p>
        </p:txBody>
      </p:sp>
      <p:sp>
        <p:nvSpPr>
          <p:cNvPr id="7" name="TextBox 6"/>
          <p:cNvSpPr txBox="1"/>
          <p:nvPr/>
        </p:nvSpPr>
        <p:spPr>
          <a:xfrm>
            <a:off x="3977639" y="1280160"/>
            <a:ext cx="7589520" cy="347472"/>
          </a:xfrm>
          <a:prstGeom prst="rect">
            <a:avLst/>
          </a:prstGeom>
          <a:noFill/>
        </p:spPr>
        <p:txBody>
          <a:bodyPr wrap="square" anchor="ctr" lIns="27432" rIns="27432" tIns="18288" bIns="18288">
            <a:noAutofit/>
          </a:bodyPr>
          <a:lstStyle/>
          <a:p>
            <a:pPr algn="l"/>
            <a:r>
              <a:rPr sz="1550" b="1">
                <a:solidFill>
                  <a:srgbClr val="142236"/>
                </a:solidFill>
                <a:latin typeface="Aptos"/>
              </a:rPr>
              <a:t>Brent forecast vintages — primary evaluation target</a:t>
            </a:r>
          </a:p>
        </p:txBody>
      </p:sp>
      <p:sp>
        <p:nvSpPr>
          <p:cNvPr id="8" name="TextBox 7"/>
          <p:cNvSpPr txBox="1"/>
          <p:nvPr/>
        </p:nvSpPr>
        <p:spPr>
          <a:xfrm>
            <a:off x="658368" y="1627632"/>
            <a:ext cx="10972800" cy="329184"/>
          </a:xfrm>
          <a:prstGeom prst="rect">
            <a:avLst/>
          </a:prstGeom>
          <a:noFill/>
        </p:spPr>
        <p:txBody>
          <a:bodyPr wrap="square" anchor="ctr" lIns="27432" rIns="27432" tIns="18288" bIns="18288">
            <a:noAutofit/>
          </a:bodyPr>
          <a:lstStyle/>
          <a:p>
            <a:pPr algn="l"/>
            <a:r>
              <a:rPr sz="1350" b="0">
                <a:solidFill>
                  <a:srgbClr val="6C7682"/>
                </a:solidFill>
                <a:latin typeface="Aptos"/>
              </a:rPr>
              <a:t>Clean annual AEO releases from 2013–2023; no 2024 AEO was published.</a:t>
            </a:r>
          </a:p>
        </p:txBody>
      </p:sp>
      <p:sp>
        <p:nvSpPr>
          <p:cNvPr id="9" name="Rectangle 8"/>
          <p:cNvSpPr/>
          <p:nvPr/>
        </p:nvSpPr>
        <p:spPr>
          <a:xfrm>
            <a:off x="658368" y="2029968"/>
            <a:ext cx="10881360" cy="127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322575"/>
            <a:ext cx="3246120" cy="347472"/>
          </a:xfrm>
          <a:prstGeom prst="rect">
            <a:avLst/>
          </a:prstGeom>
          <a:noFill/>
        </p:spPr>
        <p:txBody>
          <a:bodyPr wrap="square" anchor="ctr" lIns="27432" rIns="27432" tIns="18288" bIns="18288">
            <a:noAutofit/>
          </a:bodyPr>
          <a:lstStyle/>
          <a:p>
            <a:pPr algn="l"/>
            <a:r>
              <a:rPr sz="1550" b="1">
                <a:solidFill>
                  <a:srgbClr val="2D8B84"/>
                </a:solidFill>
                <a:latin typeface="Aptos"/>
              </a:rPr>
              <a:t>FRED Brent  (DCOILBRENTEU)</a:t>
            </a:r>
          </a:p>
        </p:txBody>
      </p:sp>
      <p:sp>
        <p:nvSpPr>
          <p:cNvPr id="11" name="TextBox 10"/>
          <p:cNvSpPr txBox="1"/>
          <p:nvPr/>
        </p:nvSpPr>
        <p:spPr>
          <a:xfrm>
            <a:off x="3977639" y="2322575"/>
            <a:ext cx="7589520" cy="347472"/>
          </a:xfrm>
          <a:prstGeom prst="rect">
            <a:avLst/>
          </a:prstGeom>
          <a:noFill/>
        </p:spPr>
        <p:txBody>
          <a:bodyPr wrap="square" anchor="ctr" lIns="27432" rIns="27432" tIns="18288" bIns="18288">
            <a:noAutofit/>
          </a:bodyPr>
          <a:lstStyle/>
          <a:p>
            <a:pPr algn="l"/>
            <a:r>
              <a:rPr sz="1550" b="1">
                <a:solidFill>
                  <a:srgbClr val="142236"/>
                </a:solidFill>
                <a:latin typeface="Aptos"/>
              </a:rPr>
              <a:t>Realized Brent price — outcome variable</a:t>
            </a:r>
          </a:p>
        </p:txBody>
      </p:sp>
      <p:sp>
        <p:nvSpPr>
          <p:cNvPr id="12" name="TextBox 11"/>
          <p:cNvSpPr txBox="1"/>
          <p:nvPr/>
        </p:nvSpPr>
        <p:spPr>
          <a:xfrm>
            <a:off x="658368" y="2670047"/>
            <a:ext cx="10972800" cy="329184"/>
          </a:xfrm>
          <a:prstGeom prst="rect">
            <a:avLst/>
          </a:prstGeom>
          <a:noFill/>
        </p:spPr>
        <p:txBody>
          <a:bodyPr wrap="square" anchor="ctr" lIns="27432" rIns="27432" tIns="18288" bIns="18288">
            <a:noAutofit/>
          </a:bodyPr>
          <a:lstStyle/>
          <a:p>
            <a:pPr algn="l"/>
            <a:r>
              <a:rPr sz="1350" b="0">
                <a:solidFill>
                  <a:srgbClr val="6C7682"/>
                </a:solidFill>
                <a:latin typeface="Aptos"/>
              </a:rPr>
              <a:t>Daily spot prices aggregated to annual averages; CPI-deflated to real 2025 USD/bbl.</a:t>
            </a:r>
          </a:p>
        </p:txBody>
      </p:sp>
      <p:sp>
        <p:nvSpPr>
          <p:cNvPr id="13" name="Rectangle 12"/>
          <p:cNvSpPr/>
          <p:nvPr/>
        </p:nvSpPr>
        <p:spPr>
          <a:xfrm>
            <a:off x="658368" y="3072383"/>
            <a:ext cx="10881360" cy="127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364990"/>
            <a:ext cx="3246120" cy="347472"/>
          </a:xfrm>
          <a:prstGeom prst="rect">
            <a:avLst/>
          </a:prstGeom>
          <a:noFill/>
        </p:spPr>
        <p:txBody>
          <a:bodyPr wrap="square" anchor="ctr" lIns="27432" rIns="27432" tIns="18288" bIns="18288">
            <a:noAutofit/>
          </a:bodyPr>
          <a:lstStyle/>
          <a:p>
            <a:pPr algn="l"/>
            <a:r>
              <a:rPr sz="1550" b="1">
                <a:solidFill>
                  <a:srgbClr val="2D8B84"/>
                </a:solidFill>
                <a:latin typeface="Aptos"/>
              </a:rPr>
              <a:t>FRED CPI  (CPIAUCSL)</a:t>
            </a:r>
          </a:p>
        </p:txBody>
      </p:sp>
      <p:sp>
        <p:nvSpPr>
          <p:cNvPr id="15" name="TextBox 14"/>
          <p:cNvSpPr txBox="1"/>
          <p:nvPr/>
        </p:nvSpPr>
        <p:spPr>
          <a:xfrm>
            <a:off x="3977639" y="3364990"/>
            <a:ext cx="7589520" cy="347472"/>
          </a:xfrm>
          <a:prstGeom prst="rect">
            <a:avLst/>
          </a:prstGeom>
          <a:noFill/>
        </p:spPr>
        <p:txBody>
          <a:bodyPr wrap="square" anchor="ctr" lIns="27432" rIns="27432" tIns="18288" bIns="18288">
            <a:noAutofit/>
          </a:bodyPr>
          <a:lstStyle/>
          <a:p>
            <a:pPr algn="l"/>
            <a:r>
              <a:rPr sz="1550" b="1">
                <a:solidFill>
                  <a:srgbClr val="142236"/>
                </a:solidFill>
                <a:latin typeface="Aptos"/>
              </a:rPr>
              <a:t>Inflation deflator</a:t>
            </a:r>
          </a:p>
        </p:txBody>
      </p:sp>
      <p:sp>
        <p:nvSpPr>
          <p:cNvPr id="16" name="TextBox 15"/>
          <p:cNvSpPr txBox="1"/>
          <p:nvPr/>
        </p:nvSpPr>
        <p:spPr>
          <a:xfrm>
            <a:off x="658368" y="3712462"/>
            <a:ext cx="10972800" cy="329184"/>
          </a:xfrm>
          <a:prstGeom prst="rect">
            <a:avLst/>
          </a:prstGeom>
          <a:noFill/>
        </p:spPr>
        <p:txBody>
          <a:bodyPr wrap="square" anchor="ctr" lIns="27432" rIns="27432" tIns="18288" bIns="18288">
            <a:noAutofit/>
          </a:bodyPr>
          <a:lstStyle/>
          <a:p>
            <a:pPr algn="l"/>
            <a:r>
              <a:rPr sz="1350" b="0">
                <a:solidFill>
                  <a:srgbClr val="6C7682"/>
                </a:solidFill>
                <a:latin typeface="Aptos"/>
              </a:rPr>
              <a:t>Converts nominal EIA vintage forecasts to real 2025 USD/bbl for consistent comparison.</a:t>
            </a:r>
          </a:p>
        </p:txBody>
      </p:sp>
      <p:sp>
        <p:nvSpPr>
          <p:cNvPr id="17" name="Rectangle 16"/>
          <p:cNvSpPr/>
          <p:nvPr/>
        </p:nvSpPr>
        <p:spPr>
          <a:xfrm>
            <a:off x="658368" y="4114798"/>
            <a:ext cx="10881360" cy="127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407405"/>
            <a:ext cx="3246120" cy="347472"/>
          </a:xfrm>
          <a:prstGeom prst="rect">
            <a:avLst/>
          </a:prstGeom>
          <a:noFill/>
        </p:spPr>
        <p:txBody>
          <a:bodyPr wrap="square" anchor="ctr" lIns="27432" rIns="27432" tIns="18288" bIns="18288">
            <a:noAutofit/>
          </a:bodyPr>
          <a:lstStyle/>
          <a:p>
            <a:pPr algn="l"/>
            <a:r>
              <a:rPr sz="1550" b="1">
                <a:solidFill>
                  <a:srgbClr val="2D8B84"/>
                </a:solidFill>
                <a:latin typeface="Aptos"/>
              </a:rPr>
              <a:t>Yahoo Finance BZ=F</a:t>
            </a:r>
          </a:p>
        </p:txBody>
      </p:sp>
      <p:sp>
        <p:nvSpPr>
          <p:cNvPr id="19" name="TextBox 18"/>
          <p:cNvSpPr txBox="1"/>
          <p:nvPr/>
        </p:nvSpPr>
        <p:spPr>
          <a:xfrm>
            <a:off x="3977639" y="4407405"/>
            <a:ext cx="7589520" cy="347472"/>
          </a:xfrm>
          <a:prstGeom prst="rect">
            <a:avLst/>
          </a:prstGeom>
          <a:noFill/>
        </p:spPr>
        <p:txBody>
          <a:bodyPr wrap="square" anchor="ctr" lIns="27432" rIns="27432" tIns="18288" bIns="18288">
            <a:noAutofit/>
          </a:bodyPr>
          <a:lstStyle/>
          <a:p>
            <a:pPr algn="l"/>
            <a:r>
              <a:rPr sz="1550" b="1">
                <a:solidFill>
                  <a:srgbClr val="142236"/>
                </a:solidFill>
                <a:latin typeface="Aptos"/>
              </a:rPr>
              <a:t>Front-month Brent futures — market signal</a:t>
            </a:r>
          </a:p>
        </p:txBody>
      </p:sp>
      <p:sp>
        <p:nvSpPr>
          <p:cNvPr id="20" name="TextBox 19"/>
          <p:cNvSpPr txBox="1"/>
          <p:nvPr/>
        </p:nvSpPr>
        <p:spPr>
          <a:xfrm>
            <a:off x="658368" y="4754877"/>
            <a:ext cx="10972800" cy="329184"/>
          </a:xfrm>
          <a:prstGeom prst="rect">
            <a:avLst/>
          </a:prstGeom>
          <a:noFill/>
        </p:spPr>
        <p:txBody>
          <a:bodyPr wrap="square" anchor="ctr" lIns="27432" rIns="27432" tIns="18288" bIns="18288">
            <a:noAutofit/>
          </a:bodyPr>
          <a:lstStyle/>
          <a:p>
            <a:pPr algn="l"/>
            <a:r>
              <a:rPr sz="1350" b="0">
                <a:solidFill>
                  <a:srgbClr val="6C7682"/>
                </a:solidFill>
                <a:latin typeface="Aptos"/>
              </a:rPr>
              <a:t>Used as an additional regressor in the rolling AR + Futures extension.</a:t>
            </a:r>
          </a:p>
        </p:txBody>
      </p:sp>
      <p:sp>
        <p:nvSpPr>
          <p:cNvPr id="21" name="TextBox 20"/>
          <p:cNvSpPr txBox="1"/>
          <p:nvPr/>
        </p:nvSpPr>
        <p:spPr>
          <a:xfrm>
            <a:off x="658368" y="5687568"/>
            <a:ext cx="10881360" cy="292608"/>
          </a:xfrm>
          <a:prstGeom prst="rect">
            <a:avLst/>
          </a:prstGeom>
          <a:noFill/>
        </p:spPr>
        <p:txBody>
          <a:bodyPr wrap="square" anchor="ctr" lIns="27432" rIns="27432" tIns="18288" bIns="18288">
            <a:noAutofit/>
          </a:bodyPr>
          <a:lstStyle/>
          <a:p>
            <a:pPr algn="l"/>
            <a:r>
              <a:rPr sz="1300" b="0">
                <a:solidFill>
                  <a:srgbClr val="6C7682"/>
                </a:solidFill>
                <a:latin typeface="Aptos"/>
              </a:rPr>
              <a:t>Note: World Bank Crude oil (avg) used as supplementary check only — different contract from Brent spot.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Evaluation Pipeline</a:t>
            </a:r>
          </a:p>
        </p:txBody>
      </p:sp>
      <p:sp>
        <p:nvSpPr>
          <p:cNvPr id="3" name="TextBox 2"/>
          <p:cNvSpPr txBox="1"/>
          <p:nvPr/>
        </p:nvSpPr>
        <p:spPr>
          <a:xfrm>
            <a:off x="594360" y="804672"/>
            <a:ext cx="10515600" cy="274320"/>
          </a:xfrm>
          <a:prstGeom prst="rect">
            <a:avLst/>
          </a:prstGeom>
          <a:noFill/>
        </p:spPr>
        <p:txBody>
          <a:bodyPr wrap="square" anchor="ctr" lIns="27432" rIns="27432" tIns="18288" bIns="18288">
            <a:noAutofit/>
          </a:bodyPr>
          <a:lstStyle/>
          <a:p>
            <a:pPr algn="l"/>
            <a:r>
              <a:rPr sz="1300" b="0">
                <a:solidFill>
                  <a:srgbClr val="6C7682"/>
                </a:solidFill>
                <a:latin typeface="Aptos"/>
              </a:rPr>
              <a:t>Standardizing forecasts and realized prices into one panel</a:t>
            </a:r>
          </a:p>
        </p:txBody>
      </p:sp>
      <p:sp>
        <p:nvSpPr>
          <p:cNvPr id="4" name="Rectangle 3"/>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5</a:t>
            </a:r>
          </a:p>
        </p:txBody>
      </p:sp>
      <p:sp>
        <p:nvSpPr>
          <p:cNvPr id="6" name="Rounded Rectangle 5"/>
          <p:cNvSpPr/>
          <p:nvPr/>
        </p:nvSpPr>
        <p:spPr>
          <a:xfrm>
            <a:off x="993495" y="1874519"/>
            <a:ext cx="1719072" cy="13258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noAutofit/>
          </a:bodyPr>
          <a:lstStyle/>
          <a:p>
            <a:pPr algn="ctr">
              <a:lnSpc>
                <a:spcPct val="115000"/>
              </a:lnSpc>
            </a:pPr>
            <a:r>
              <a:rPr sz="1500" b="1">
                <a:solidFill>
                  <a:srgbClr val="2D8B84"/>
                </a:solidFill>
                <a:latin typeface="Aptos"/>
              </a:rPr>
              <a:t>EIA Vintages</a:t>
            </a:r>
          </a:p>
          <a:p>
            <a:pPr algn="ctr">
              <a:lnSpc>
                <a:spcPct val="110000"/>
              </a:lnSpc>
              <a:spcBef>
                <a:spcPts val="500"/>
              </a:spcBef>
            </a:pPr>
            <a:r>
              <a:rPr sz="1250" b="0">
                <a:solidFill>
                  <a:srgbClr val="142236"/>
                </a:solidFill>
                <a:latin typeface="Aptos"/>
              </a:rPr>
              <a:t>AEO Table 12
forecast releases</a:t>
            </a:r>
          </a:p>
        </p:txBody>
      </p:sp>
      <p:sp>
        <p:nvSpPr>
          <p:cNvPr id="7" name="TextBox 6"/>
          <p:cNvSpPr txBox="1"/>
          <p:nvPr/>
        </p:nvSpPr>
        <p:spPr>
          <a:xfrm>
            <a:off x="2749143" y="2331719"/>
            <a:ext cx="347472" cy="411480"/>
          </a:xfrm>
          <a:prstGeom prst="rect">
            <a:avLst/>
          </a:prstGeom>
          <a:noFill/>
        </p:spPr>
        <p:txBody>
          <a:bodyPr wrap="square" anchor="ctr" lIns="27432" rIns="27432" tIns="18288" bIns="18288">
            <a:noAutofit/>
          </a:bodyPr>
          <a:lstStyle/>
          <a:p>
            <a:pPr algn="ctr"/>
            <a:r>
              <a:rPr sz="2200" b="1">
                <a:solidFill>
                  <a:srgbClr val="2D8B84"/>
                </a:solidFill>
                <a:latin typeface="Aptos"/>
              </a:rPr>
              <a:t>→</a:t>
            </a:r>
          </a:p>
        </p:txBody>
      </p:sp>
      <p:sp>
        <p:nvSpPr>
          <p:cNvPr id="8" name="Rounded Rectangle 7"/>
          <p:cNvSpPr/>
          <p:nvPr/>
        </p:nvSpPr>
        <p:spPr>
          <a:xfrm>
            <a:off x="3114903" y="1874519"/>
            <a:ext cx="1719072" cy="13258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noAutofit/>
          </a:bodyPr>
          <a:lstStyle/>
          <a:p>
            <a:pPr algn="ctr">
              <a:lnSpc>
                <a:spcPct val="115000"/>
              </a:lnSpc>
            </a:pPr>
            <a:r>
              <a:rPr sz="1500" b="1">
                <a:solidFill>
                  <a:srgbClr val="2D8B84"/>
                </a:solidFill>
                <a:latin typeface="Aptos"/>
              </a:rPr>
              <a:t>Realized Brent</a:t>
            </a:r>
          </a:p>
          <a:p>
            <a:pPr algn="ctr">
              <a:lnSpc>
                <a:spcPct val="110000"/>
              </a:lnSpc>
              <a:spcBef>
                <a:spcPts val="500"/>
              </a:spcBef>
            </a:pPr>
            <a:r>
              <a:rPr sz="1250" b="0">
                <a:solidFill>
                  <a:srgbClr val="142236"/>
                </a:solidFill>
                <a:latin typeface="Aptos"/>
              </a:rPr>
              <a:t>FRED daily spot
→ annual average</a:t>
            </a:r>
          </a:p>
        </p:txBody>
      </p:sp>
      <p:sp>
        <p:nvSpPr>
          <p:cNvPr id="9" name="TextBox 8"/>
          <p:cNvSpPr txBox="1"/>
          <p:nvPr/>
        </p:nvSpPr>
        <p:spPr>
          <a:xfrm>
            <a:off x="4870551" y="2331719"/>
            <a:ext cx="347472" cy="411480"/>
          </a:xfrm>
          <a:prstGeom prst="rect">
            <a:avLst/>
          </a:prstGeom>
          <a:noFill/>
        </p:spPr>
        <p:txBody>
          <a:bodyPr wrap="square" anchor="ctr" lIns="27432" rIns="27432" tIns="18288" bIns="18288">
            <a:noAutofit/>
          </a:bodyPr>
          <a:lstStyle/>
          <a:p>
            <a:pPr algn="ctr"/>
            <a:r>
              <a:rPr sz="2200" b="1">
                <a:solidFill>
                  <a:srgbClr val="2D8B84"/>
                </a:solidFill>
                <a:latin typeface="Aptos"/>
              </a:rPr>
              <a:t>→</a:t>
            </a:r>
          </a:p>
        </p:txBody>
      </p:sp>
      <p:sp>
        <p:nvSpPr>
          <p:cNvPr id="10" name="Rounded Rectangle 9"/>
          <p:cNvSpPr/>
          <p:nvPr/>
        </p:nvSpPr>
        <p:spPr>
          <a:xfrm>
            <a:off x="5236311" y="1874519"/>
            <a:ext cx="1719072" cy="13258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noAutofit/>
          </a:bodyPr>
          <a:lstStyle/>
          <a:p>
            <a:pPr algn="ctr">
              <a:lnSpc>
                <a:spcPct val="115000"/>
              </a:lnSpc>
            </a:pPr>
            <a:r>
              <a:rPr sz="1500" b="1">
                <a:solidFill>
                  <a:srgbClr val="2D8B84"/>
                </a:solidFill>
                <a:latin typeface="Aptos"/>
              </a:rPr>
              <a:t>CPI Deflation</a:t>
            </a:r>
          </a:p>
          <a:p>
            <a:pPr algn="ctr">
              <a:lnSpc>
                <a:spcPct val="110000"/>
              </a:lnSpc>
              <a:spcBef>
                <a:spcPts val="500"/>
              </a:spcBef>
            </a:pPr>
            <a:r>
              <a:rPr sz="1250" b="0">
                <a:solidFill>
                  <a:srgbClr val="142236"/>
                </a:solidFill>
                <a:latin typeface="Aptos"/>
              </a:rPr>
              <a:t>Nominal →
Real 2025 USD/bbl</a:t>
            </a:r>
          </a:p>
        </p:txBody>
      </p:sp>
      <p:sp>
        <p:nvSpPr>
          <p:cNvPr id="11" name="TextBox 10"/>
          <p:cNvSpPr txBox="1"/>
          <p:nvPr/>
        </p:nvSpPr>
        <p:spPr>
          <a:xfrm>
            <a:off x="6991959" y="2331719"/>
            <a:ext cx="347472" cy="411480"/>
          </a:xfrm>
          <a:prstGeom prst="rect">
            <a:avLst/>
          </a:prstGeom>
          <a:noFill/>
        </p:spPr>
        <p:txBody>
          <a:bodyPr wrap="square" anchor="ctr" lIns="27432" rIns="27432" tIns="18288" bIns="18288">
            <a:noAutofit/>
          </a:bodyPr>
          <a:lstStyle/>
          <a:p>
            <a:pPr algn="ctr"/>
            <a:r>
              <a:rPr sz="2200" b="1">
                <a:solidFill>
                  <a:srgbClr val="2D8B84"/>
                </a:solidFill>
                <a:latin typeface="Aptos"/>
              </a:rPr>
              <a:t>→</a:t>
            </a:r>
          </a:p>
        </p:txBody>
      </p:sp>
      <p:sp>
        <p:nvSpPr>
          <p:cNvPr id="12" name="Rounded Rectangle 11"/>
          <p:cNvSpPr/>
          <p:nvPr/>
        </p:nvSpPr>
        <p:spPr>
          <a:xfrm>
            <a:off x="7357719" y="1874519"/>
            <a:ext cx="1719072" cy="13258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noAutofit/>
          </a:bodyPr>
          <a:lstStyle/>
          <a:p>
            <a:pPr algn="ctr">
              <a:lnSpc>
                <a:spcPct val="115000"/>
              </a:lnSpc>
            </a:pPr>
            <a:r>
              <a:rPr sz="1500" b="1">
                <a:solidFill>
                  <a:srgbClr val="2D8B84"/>
                </a:solidFill>
                <a:latin typeface="Aptos"/>
              </a:rPr>
              <a:t>Panel</a:t>
            </a:r>
          </a:p>
          <a:p>
            <a:pPr algn="ctr">
              <a:lnSpc>
                <a:spcPct val="110000"/>
              </a:lnSpc>
              <a:spcBef>
                <a:spcPts val="500"/>
              </a:spcBef>
            </a:pPr>
            <a:r>
              <a:rPr sz="1250" b="0">
                <a:solidFill>
                  <a:srgbClr val="142236"/>
                </a:solidFill>
                <a:latin typeface="Aptos"/>
              </a:rPr>
              <a:t>3y &amp; 5y horizon
outcome pairs</a:t>
            </a:r>
          </a:p>
        </p:txBody>
      </p:sp>
      <p:sp>
        <p:nvSpPr>
          <p:cNvPr id="13" name="TextBox 12"/>
          <p:cNvSpPr txBox="1"/>
          <p:nvPr/>
        </p:nvSpPr>
        <p:spPr>
          <a:xfrm>
            <a:off x="9113367" y="2331719"/>
            <a:ext cx="347472" cy="411480"/>
          </a:xfrm>
          <a:prstGeom prst="rect">
            <a:avLst/>
          </a:prstGeom>
          <a:noFill/>
        </p:spPr>
        <p:txBody>
          <a:bodyPr wrap="square" anchor="ctr" lIns="27432" rIns="27432" tIns="18288" bIns="18288">
            <a:noAutofit/>
          </a:bodyPr>
          <a:lstStyle/>
          <a:p>
            <a:pPr algn="ctr"/>
            <a:r>
              <a:rPr sz="2200" b="1">
                <a:solidFill>
                  <a:srgbClr val="2D8B84"/>
                </a:solidFill>
                <a:latin typeface="Aptos"/>
              </a:rPr>
              <a:t>→</a:t>
            </a:r>
          </a:p>
        </p:txBody>
      </p:sp>
      <p:sp>
        <p:nvSpPr>
          <p:cNvPr id="14" name="Rounded Rectangle 13"/>
          <p:cNvSpPr/>
          <p:nvPr/>
        </p:nvSpPr>
        <p:spPr>
          <a:xfrm>
            <a:off x="9479127" y="1874519"/>
            <a:ext cx="1719072" cy="13258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noAutofit/>
          </a:bodyPr>
          <a:lstStyle/>
          <a:p>
            <a:pPr algn="ctr">
              <a:lnSpc>
                <a:spcPct val="115000"/>
              </a:lnSpc>
            </a:pPr>
            <a:r>
              <a:rPr sz="1500" b="1">
                <a:solidFill>
                  <a:srgbClr val="2D8B84"/>
                </a:solidFill>
                <a:latin typeface="Aptos"/>
              </a:rPr>
              <a:t>Benchmark</a:t>
            </a:r>
          </a:p>
          <a:p>
            <a:pPr algn="ctr">
              <a:lnSpc>
                <a:spcPct val="110000"/>
              </a:lnSpc>
              <a:spcBef>
                <a:spcPts val="500"/>
              </a:spcBef>
            </a:pPr>
            <a:r>
              <a:rPr sz="1250" b="0">
                <a:solidFill>
                  <a:srgbClr val="142236"/>
                </a:solidFill>
                <a:latin typeface="Aptos"/>
              </a:rPr>
              <a:t>Random-walk
comparison</a:t>
            </a:r>
          </a:p>
        </p:txBody>
      </p:sp>
      <p:sp>
        <p:nvSpPr>
          <p:cNvPr id="15" name="TextBox 14"/>
          <p:cNvSpPr txBox="1"/>
          <p:nvPr/>
        </p:nvSpPr>
        <p:spPr>
          <a:xfrm>
            <a:off x="1508760" y="3520440"/>
            <a:ext cx="2834640" cy="274320"/>
          </a:xfrm>
          <a:prstGeom prst="rect">
            <a:avLst/>
          </a:prstGeom>
          <a:noFill/>
        </p:spPr>
        <p:txBody>
          <a:bodyPr wrap="square" anchor="ctr" lIns="27432" rIns="27432" tIns="18288" bIns="18288">
            <a:noAutofit/>
          </a:bodyPr>
          <a:lstStyle/>
          <a:p>
            <a:pPr algn="ctr"/>
            <a:r>
              <a:rPr sz="1200" b="0">
                <a:solidFill>
                  <a:srgbClr val="6C7682"/>
                </a:solidFill>
                <a:latin typeface="Aptos"/>
              </a:rPr>
              <a:t>EIA Publication Vintages</a:t>
            </a:r>
          </a:p>
        </p:txBody>
      </p:sp>
      <p:sp>
        <p:nvSpPr>
          <p:cNvPr id="16" name="TextBox 15"/>
          <p:cNvSpPr txBox="1"/>
          <p:nvPr/>
        </p:nvSpPr>
        <p:spPr>
          <a:xfrm>
            <a:off x="1508760" y="3767328"/>
            <a:ext cx="2834640" cy="713232"/>
          </a:xfrm>
          <a:prstGeom prst="rect">
            <a:avLst/>
          </a:prstGeom>
          <a:noFill/>
        </p:spPr>
        <p:txBody>
          <a:bodyPr wrap="square" anchor="ctr" lIns="27432" rIns="27432" tIns="18288" bIns="18288">
            <a:noAutofit/>
          </a:bodyPr>
          <a:lstStyle/>
          <a:p>
            <a:pPr algn="ctr"/>
            <a:r>
              <a:rPr sz="4000" b="1">
                <a:solidFill>
                  <a:srgbClr val="2D8B84"/>
                </a:solidFill>
                <a:latin typeface="Aptos"/>
              </a:rPr>
              <a:t>11</a:t>
            </a:r>
          </a:p>
        </p:txBody>
      </p:sp>
      <p:sp>
        <p:nvSpPr>
          <p:cNvPr id="17" name="TextBox 16"/>
          <p:cNvSpPr txBox="1"/>
          <p:nvPr/>
        </p:nvSpPr>
        <p:spPr>
          <a:xfrm>
            <a:off x="1508760" y="4462272"/>
            <a:ext cx="2834640" cy="256032"/>
          </a:xfrm>
          <a:prstGeom prst="rect">
            <a:avLst/>
          </a:prstGeom>
          <a:noFill/>
        </p:spPr>
        <p:txBody>
          <a:bodyPr wrap="square" anchor="ctr" lIns="27432" rIns="27432" tIns="18288" bIns="18288">
            <a:noAutofit/>
          </a:bodyPr>
          <a:lstStyle/>
          <a:p>
            <a:pPr algn="ctr"/>
            <a:r>
              <a:rPr sz="1200" b="0">
                <a:solidFill>
                  <a:srgbClr val="6C7682"/>
                </a:solidFill>
                <a:latin typeface="Aptos"/>
              </a:rPr>
              <a:t>evaluation windows</a:t>
            </a:r>
          </a:p>
        </p:txBody>
      </p:sp>
      <p:sp>
        <p:nvSpPr>
          <p:cNvPr id="18" name="TextBox 17"/>
          <p:cNvSpPr txBox="1"/>
          <p:nvPr/>
        </p:nvSpPr>
        <p:spPr>
          <a:xfrm>
            <a:off x="4636008" y="3520440"/>
            <a:ext cx="2834640" cy="274320"/>
          </a:xfrm>
          <a:prstGeom prst="rect">
            <a:avLst/>
          </a:prstGeom>
          <a:noFill/>
        </p:spPr>
        <p:txBody>
          <a:bodyPr wrap="square" anchor="ctr" lIns="27432" rIns="27432" tIns="18288" bIns="18288">
            <a:noAutofit/>
          </a:bodyPr>
          <a:lstStyle/>
          <a:p>
            <a:pPr algn="ctr"/>
            <a:r>
              <a:rPr sz="1200" b="0">
                <a:solidFill>
                  <a:srgbClr val="6C7682"/>
                </a:solidFill>
                <a:latin typeface="Aptos"/>
              </a:rPr>
              <a:t>Forecast-Outcome Pairs</a:t>
            </a:r>
          </a:p>
        </p:txBody>
      </p:sp>
      <p:sp>
        <p:nvSpPr>
          <p:cNvPr id="19" name="TextBox 18"/>
          <p:cNvSpPr txBox="1"/>
          <p:nvPr/>
        </p:nvSpPr>
        <p:spPr>
          <a:xfrm>
            <a:off x="4636008" y="3767328"/>
            <a:ext cx="2834640" cy="713232"/>
          </a:xfrm>
          <a:prstGeom prst="rect">
            <a:avLst/>
          </a:prstGeom>
          <a:noFill/>
        </p:spPr>
        <p:txBody>
          <a:bodyPr wrap="square" anchor="ctr" lIns="27432" rIns="27432" tIns="18288" bIns="18288">
            <a:noAutofit/>
          </a:bodyPr>
          <a:lstStyle/>
          <a:p>
            <a:pPr algn="ctr"/>
            <a:r>
              <a:rPr sz="4000" b="1">
                <a:solidFill>
                  <a:srgbClr val="2D8B84"/>
                </a:solidFill>
                <a:latin typeface="Aptos"/>
              </a:rPr>
              <a:t>20</a:t>
            </a:r>
          </a:p>
        </p:txBody>
      </p:sp>
      <p:sp>
        <p:nvSpPr>
          <p:cNvPr id="20" name="TextBox 19"/>
          <p:cNvSpPr txBox="1"/>
          <p:nvPr/>
        </p:nvSpPr>
        <p:spPr>
          <a:xfrm>
            <a:off x="4636008" y="4462272"/>
            <a:ext cx="2834640" cy="256032"/>
          </a:xfrm>
          <a:prstGeom prst="rect">
            <a:avLst/>
          </a:prstGeom>
          <a:noFill/>
        </p:spPr>
        <p:txBody>
          <a:bodyPr wrap="square" anchor="ctr" lIns="27432" rIns="27432" tIns="18288" bIns="18288">
            <a:noAutofit/>
          </a:bodyPr>
          <a:lstStyle/>
          <a:p>
            <a:pPr algn="ctr"/>
            <a:r>
              <a:rPr sz="1200" b="0">
                <a:solidFill>
                  <a:srgbClr val="6C7682"/>
                </a:solidFill>
                <a:latin typeface="Aptos"/>
              </a:rPr>
              <a:t>3-year and 5-year</a:t>
            </a:r>
          </a:p>
        </p:txBody>
      </p:sp>
      <p:sp>
        <p:nvSpPr>
          <p:cNvPr id="21" name="TextBox 20"/>
          <p:cNvSpPr txBox="1"/>
          <p:nvPr/>
        </p:nvSpPr>
        <p:spPr>
          <a:xfrm>
            <a:off x="7763256" y="3520440"/>
            <a:ext cx="2834640" cy="274320"/>
          </a:xfrm>
          <a:prstGeom prst="rect">
            <a:avLst/>
          </a:prstGeom>
          <a:noFill/>
        </p:spPr>
        <p:txBody>
          <a:bodyPr wrap="square" anchor="ctr" lIns="27432" rIns="27432" tIns="18288" bIns="18288">
            <a:noAutofit/>
          </a:bodyPr>
          <a:lstStyle/>
          <a:p>
            <a:pPr algn="ctr"/>
            <a:r>
              <a:rPr sz="1200" b="0">
                <a:solidFill>
                  <a:srgbClr val="6C7682"/>
                </a:solidFill>
                <a:latin typeface="Aptos"/>
              </a:rPr>
              <a:t>Price Unit</a:t>
            </a:r>
          </a:p>
        </p:txBody>
      </p:sp>
      <p:sp>
        <p:nvSpPr>
          <p:cNvPr id="22" name="TextBox 21"/>
          <p:cNvSpPr txBox="1"/>
          <p:nvPr/>
        </p:nvSpPr>
        <p:spPr>
          <a:xfrm>
            <a:off x="7763256" y="3767328"/>
            <a:ext cx="2834640" cy="713232"/>
          </a:xfrm>
          <a:prstGeom prst="rect">
            <a:avLst/>
          </a:prstGeom>
          <a:noFill/>
        </p:spPr>
        <p:txBody>
          <a:bodyPr wrap="square" anchor="ctr" lIns="27432" rIns="27432" tIns="18288" bIns="18288">
            <a:noAutofit/>
          </a:bodyPr>
          <a:lstStyle/>
          <a:p>
            <a:pPr algn="ctr"/>
            <a:r>
              <a:rPr sz="4000" b="1">
                <a:solidFill>
                  <a:srgbClr val="2D8B84"/>
                </a:solidFill>
                <a:latin typeface="Aptos"/>
              </a:rPr>
              <a:t>2025 $</a:t>
            </a:r>
          </a:p>
        </p:txBody>
      </p:sp>
      <p:sp>
        <p:nvSpPr>
          <p:cNvPr id="23" name="TextBox 22"/>
          <p:cNvSpPr txBox="1"/>
          <p:nvPr/>
        </p:nvSpPr>
        <p:spPr>
          <a:xfrm>
            <a:off x="7763256" y="4462272"/>
            <a:ext cx="2834640" cy="256032"/>
          </a:xfrm>
          <a:prstGeom prst="rect">
            <a:avLst/>
          </a:prstGeom>
          <a:noFill/>
        </p:spPr>
        <p:txBody>
          <a:bodyPr wrap="square" anchor="ctr" lIns="27432" rIns="27432" tIns="18288" bIns="18288">
            <a:noAutofit/>
          </a:bodyPr>
          <a:lstStyle/>
          <a:p>
            <a:pPr algn="ctr"/>
            <a:r>
              <a:rPr sz="1200" b="0">
                <a:solidFill>
                  <a:srgbClr val="6C7682"/>
                </a:solidFill>
                <a:latin typeface="Aptos"/>
              </a:rPr>
              <a:t>real USD / bbl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Evaluation Design</a:t>
            </a:r>
          </a:p>
        </p:txBody>
      </p:sp>
      <p:sp>
        <p:nvSpPr>
          <p:cNvPr id="3" name="TextBox 2"/>
          <p:cNvSpPr txBox="1"/>
          <p:nvPr/>
        </p:nvSpPr>
        <p:spPr>
          <a:xfrm>
            <a:off x="594360" y="804672"/>
            <a:ext cx="10515600" cy="274320"/>
          </a:xfrm>
          <a:prstGeom prst="rect">
            <a:avLst/>
          </a:prstGeom>
          <a:noFill/>
        </p:spPr>
        <p:txBody>
          <a:bodyPr wrap="square" anchor="ctr" lIns="27432" rIns="27432" tIns="18288" bIns="18288">
            <a:noAutofit/>
          </a:bodyPr>
          <a:lstStyle/>
          <a:p>
            <a:pPr algn="l"/>
            <a:r>
              <a:rPr sz="1300" b="0">
                <a:solidFill>
                  <a:srgbClr val="6C7682"/>
                </a:solidFill>
                <a:latin typeface="Aptos"/>
              </a:rPr>
              <a:t>Metrics and benchmark definition</a:t>
            </a:r>
          </a:p>
        </p:txBody>
      </p:sp>
      <p:sp>
        <p:nvSpPr>
          <p:cNvPr id="4" name="Rectangle 3"/>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6</a:t>
            </a:r>
          </a:p>
        </p:txBody>
      </p:sp>
      <p:sp>
        <p:nvSpPr>
          <p:cNvPr id="6" name="TextBox 5"/>
          <p:cNvSpPr txBox="1"/>
          <p:nvPr/>
        </p:nvSpPr>
        <p:spPr>
          <a:xfrm>
            <a:off x="658368" y="1298448"/>
            <a:ext cx="5349240" cy="411480"/>
          </a:xfrm>
          <a:prstGeom prst="rect">
            <a:avLst/>
          </a:prstGeom>
          <a:noFill/>
        </p:spPr>
        <p:txBody>
          <a:bodyPr wrap="square" anchor="ctr" lIns="27432" rIns="27432" tIns="18288" bIns="18288">
            <a:noAutofit/>
          </a:bodyPr>
          <a:lstStyle/>
          <a:p>
            <a:pPr algn="l"/>
            <a:r>
              <a:rPr sz="1800" b="1">
                <a:solidFill>
                  <a:srgbClr val="142236"/>
                </a:solidFill>
                <a:latin typeface="Aptos"/>
              </a:rPr>
              <a:t>Forecast Error Definition</a:t>
            </a:r>
          </a:p>
        </p:txBody>
      </p:sp>
      <p:sp>
        <p:nvSpPr>
          <p:cNvPr id="7" name="Rounded Rectangle 6"/>
          <p:cNvSpPr/>
          <p:nvPr/>
        </p:nvSpPr>
        <p:spPr>
          <a:xfrm>
            <a:off x="658368" y="1755648"/>
            <a:ext cx="5349240" cy="658368"/>
          </a:xfrm>
          <a:prstGeom prst="roundRect">
            <a:avLst/>
          </a:prstGeom>
          <a:solidFill>
            <a:srgbClr val="E6F2F1"/>
          </a:solidFill>
          <a:ln w="19050">
            <a:solidFill>
              <a:srgbClr val="2D8B84"/>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noAutofit/>
          </a:bodyPr>
          <a:lstStyle/>
          <a:p>
            <a:pPr algn="ctr">
              <a:lnSpc>
                <a:spcPct val="115000"/>
              </a:lnSpc>
            </a:pPr>
            <a:r>
              <a:rPr sz="2000" b="1">
                <a:solidFill>
                  <a:srgbClr val="2D8B84"/>
                </a:solidFill>
                <a:latin typeface="Aptos"/>
              </a:rPr>
              <a:t>Forecast error  =  forecast − realized</a:t>
            </a:r>
          </a:p>
        </p:txBody>
      </p:sp>
      <p:sp>
        <p:nvSpPr>
          <p:cNvPr id="8" name="TextBox 7"/>
          <p:cNvSpPr txBox="1"/>
          <p:nvPr/>
        </p:nvSpPr>
        <p:spPr>
          <a:xfrm>
            <a:off x="658368" y="2560320"/>
            <a:ext cx="5349240" cy="2286000"/>
          </a:xfrm>
          <a:prstGeom prst="rect">
            <a:avLst/>
          </a:prstGeom>
          <a:noFill/>
        </p:spPr>
        <p:txBody>
          <a:bodyPr wrap="square" anchor="t" lIns="36576" rIns="36576" tIns="36576" bIns="36576">
            <a:noAutofit/>
          </a:bodyPr>
          <a:lstStyle/>
          <a:p>
            <a:pPr algn="l">
              <a:lnSpc>
                <a:spcPct val="115000"/>
              </a:lnSpc>
            </a:pPr>
            <a:r>
              <a:rPr sz="1750">
                <a:solidFill>
                  <a:srgbClr val="142236"/>
                </a:solidFill>
                <a:latin typeface="Aptos"/>
              </a:rPr>
              <a:t>•  ME (Mean Error) — average bias; positive = optimistic</a:t>
            </a:r>
          </a:p>
          <a:p>
            <a:pPr algn="l">
              <a:lnSpc>
                <a:spcPct val="115000"/>
              </a:lnSpc>
              <a:spcBef>
                <a:spcPts val="600"/>
              </a:spcBef>
            </a:pPr>
            <a:r>
              <a:rPr sz="1750">
                <a:solidFill>
                  <a:srgbClr val="142236"/>
                </a:solidFill>
                <a:latin typeface="Aptos"/>
              </a:rPr>
              <a:t>•  MAE — mean absolute magnitude of error</a:t>
            </a:r>
          </a:p>
          <a:p>
            <a:pPr algn="l">
              <a:lnSpc>
                <a:spcPct val="115000"/>
              </a:lnSpc>
              <a:spcBef>
                <a:spcPts val="600"/>
              </a:spcBef>
            </a:pPr>
            <a:r>
              <a:rPr sz="1750">
                <a:solidFill>
                  <a:srgbClr val="142236"/>
                </a:solidFill>
                <a:latin typeface="Aptos"/>
              </a:rPr>
              <a:t>•  RMSE — root mean squared error</a:t>
            </a:r>
          </a:p>
          <a:p>
            <a:pPr algn="l">
              <a:lnSpc>
                <a:spcPct val="115000"/>
              </a:lnSpc>
              <a:spcBef>
                <a:spcPts val="600"/>
              </a:spcBef>
            </a:pPr>
            <a:r>
              <a:rPr sz="1750">
                <a:solidFill>
                  <a:srgbClr val="142236"/>
                </a:solidFill>
                <a:latin typeface="Aptos"/>
              </a:rPr>
              <a:t>•  MAPE — error as share of realized price</a:t>
            </a:r>
          </a:p>
        </p:txBody>
      </p:sp>
      <p:sp>
        <p:nvSpPr>
          <p:cNvPr id="9" name="Rectangle 8"/>
          <p:cNvSpPr/>
          <p:nvPr/>
        </p:nvSpPr>
        <p:spPr>
          <a:xfrm>
            <a:off x="6291072" y="1298448"/>
            <a:ext cx="12700" cy="41148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298448"/>
            <a:ext cx="5029200" cy="411480"/>
          </a:xfrm>
          <a:prstGeom prst="rect">
            <a:avLst/>
          </a:prstGeom>
          <a:noFill/>
        </p:spPr>
        <p:txBody>
          <a:bodyPr wrap="square" anchor="ctr" lIns="27432" rIns="27432" tIns="18288" bIns="18288">
            <a:noAutofit/>
          </a:bodyPr>
          <a:lstStyle/>
          <a:p>
            <a:pPr algn="l"/>
            <a:r>
              <a:rPr sz="1800" b="1">
                <a:solidFill>
                  <a:srgbClr val="142236"/>
                </a:solidFill>
                <a:latin typeface="Aptos"/>
              </a:rPr>
              <a:t>Random-Walk Benchmark</a:t>
            </a:r>
          </a:p>
        </p:txBody>
      </p:sp>
      <p:sp>
        <p:nvSpPr>
          <p:cNvPr id="11" name="TextBox 10"/>
          <p:cNvSpPr txBox="1"/>
          <p:nvPr/>
        </p:nvSpPr>
        <p:spPr>
          <a:xfrm>
            <a:off x="6537960" y="1801368"/>
            <a:ext cx="5029200" cy="749808"/>
          </a:xfrm>
          <a:prstGeom prst="rect">
            <a:avLst/>
          </a:prstGeom>
          <a:noFill/>
        </p:spPr>
        <p:txBody>
          <a:bodyPr wrap="square" anchor="ctr" lIns="27432" rIns="27432" tIns="18288" bIns="18288">
            <a:noAutofit/>
          </a:bodyPr>
          <a:lstStyle/>
          <a:p>
            <a:pPr algn="l"/>
            <a:r>
              <a:rPr sz="1850" b="0">
                <a:solidFill>
                  <a:srgbClr val="142236"/>
                </a:solidFill>
                <a:latin typeface="Aptos"/>
              </a:rPr>
              <a:t>Forecast = most recently completed annual
Brent average available at time of release.</a:t>
            </a:r>
          </a:p>
        </p:txBody>
      </p:sp>
      <p:sp>
        <p:nvSpPr>
          <p:cNvPr id="12" name="TextBox 11"/>
          <p:cNvSpPr txBox="1"/>
          <p:nvPr/>
        </p:nvSpPr>
        <p:spPr>
          <a:xfrm>
            <a:off x="6537960" y="2697480"/>
            <a:ext cx="5029200" cy="749808"/>
          </a:xfrm>
          <a:prstGeom prst="rect">
            <a:avLst/>
          </a:prstGeom>
          <a:noFill/>
        </p:spPr>
        <p:txBody>
          <a:bodyPr wrap="square" anchor="ctr" lIns="27432" rIns="27432" tIns="18288" bIns="18288">
            <a:noAutofit/>
          </a:bodyPr>
          <a:lstStyle/>
          <a:p>
            <a:pPr algn="l"/>
            <a:r>
              <a:rPr sz="1550" b="0">
                <a:solidFill>
                  <a:srgbClr val="6C7682"/>
                </a:solidFill>
                <a:latin typeface="Aptos"/>
              </a:rPr>
              <a:t>Simple, transparent, and the standard commodity-price baseline.
If EIA beats this, it demonstrates genuine informational value.</a:t>
            </a:r>
          </a:p>
        </p:txBody>
      </p:sp>
      <p:sp>
        <p:nvSpPr>
          <p:cNvPr id="13" name="Rounded Rectangle 12"/>
          <p:cNvSpPr/>
          <p:nvPr/>
        </p:nvSpPr>
        <p:spPr>
          <a:xfrm>
            <a:off x="6537960" y="3886200"/>
            <a:ext cx="5029200" cy="548640"/>
          </a:xfrm>
          <a:prstGeom prst="roundRect">
            <a:avLst/>
          </a:prstGeom>
          <a:solidFill>
            <a:srgbClr val="E8F2FC"/>
          </a:solidFill>
          <a:ln w="15240">
            <a:solidFill>
              <a:srgbClr val="25639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noAutofit/>
          </a:bodyPr>
          <a:lstStyle/>
          <a:p>
            <a:pPr algn="ctr">
              <a:lnSpc>
                <a:spcPct val="115000"/>
              </a:lnSpc>
            </a:pPr>
            <a:r>
              <a:rPr sz="1600" b="1">
                <a:solidFill>
                  <a:srgbClr val="256391"/>
                </a:solidFill>
                <a:latin typeface="Aptos"/>
              </a:rPr>
              <a:t>Simple · Transparent · Hard to beat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EIA Forecast Vintages vs Realized Brent</a:t>
            </a:r>
          </a:p>
        </p:txBody>
      </p:sp>
      <p:sp>
        <p:nvSpPr>
          <p:cNvPr id="3" name="TextBox 2"/>
          <p:cNvSpPr txBox="1"/>
          <p:nvPr/>
        </p:nvSpPr>
        <p:spPr>
          <a:xfrm>
            <a:off x="594360" y="804672"/>
            <a:ext cx="10515600" cy="274320"/>
          </a:xfrm>
          <a:prstGeom prst="rect">
            <a:avLst/>
          </a:prstGeom>
          <a:noFill/>
        </p:spPr>
        <p:txBody>
          <a:bodyPr wrap="square" anchor="ctr" lIns="27432" rIns="27432" tIns="18288" bIns="18288">
            <a:noAutofit/>
          </a:bodyPr>
          <a:lstStyle/>
          <a:p>
            <a:pPr algn="l"/>
            <a:r>
              <a:rPr sz="1300" b="0">
                <a:solidFill>
                  <a:srgbClr val="6C7682"/>
                </a:solidFill>
                <a:latin typeface="Aptos"/>
              </a:rPr>
              <a:t>Institutional forecasts follow smooth paths; realized prices are far more volatile</a:t>
            </a:r>
          </a:p>
        </p:txBody>
      </p:sp>
      <p:sp>
        <p:nvSpPr>
          <p:cNvPr id="4" name="Rectangle 3"/>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7</a:t>
            </a:r>
          </a:p>
        </p:txBody>
      </p:sp>
      <p:pic>
        <p:nvPicPr>
          <p:cNvPr id="6" name="Picture 5" descr="eia_vintages_vs_actual.png"/>
          <p:cNvPicPr>
            <a:picLocks noChangeAspect="1"/>
          </p:cNvPicPr>
          <p:nvPr/>
        </p:nvPicPr>
        <p:blipFill>
          <a:blip r:embed="rId2"/>
          <a:stretch>
            <a:fillRect/>
          </a:stretch>
        </p:blipFill>
        <p:spPr>
          <a:xfrm>
            <a:off x="2247464" y="1234440"/>
            <a:ext cx="7712310" cy="4498848"/>
          </a:xfrm>
          <a:prstGeom prst="rect">
            <a:avLst/>
          </a:prstGeom>
        </p:spPr>
      </p:pic>
      <p:sp>
        <p:nvSpPr>
          <p:cNvPr id="7" name="TextBox 6"/>
          <p:cNvSpPr txBox="1"/>
          <p:nvPr/>
        </p:nvSpPr>
        <p:spPr>
          <a:xfrm>
            <a:off x="658368" y="5815584"/>
            <a:ext cx="10881360" cy="411480"/>
          </a:xfrm>
          <a:prstGeom prst="rect">
            <a:avLst/>
          </a:prstGeom>
          <a:noFill/>
        </p:spPr>
        <p:txBody>
          <a:bodyPr wrap="square" anchor="ctr" lIns="27432" rIns="27432" tIns="18288" bIns="18288">
            <a:noAutofit/>
          </a:bodyPr>
          <a:lstStyle/>
          <a:p>
            <a:pPr algn="ctr"/>
            <a:r>
              <a:rPr sz="1500" b="1">
                <a:solidFill>
                  <a:srgbClr val="2D8B84"/>
                </a:solidFill>
                <a:latin typeface="Aptos"/>
              </a:rPr>
              <a:t>Takeaway: EIA vintages are smooth, mean-reverting trend lines; realized Brent is highly volatile — motivating formal accuracy and bias evaluation.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EIA Beats the Random Walk</a:t>
            </a:r>
          </a:p>
        </p:txBody>
      </p:sp>
      <p:sp>
        <p:nvSpPr>
          <p:cNvPr id="3" name="TextBox 2"/>
          <p:cNvSpPr txBox="1"/>
          <p:nvPr/>
        </p:nvSpPr>
        <p:spPr>
          <a:xfrm>
            <a:off x="594360" y="804672"/>
            <a:ext cx="10515600" cy="274320"/>
          </a:xfrm>
          <a:prstGeom prst="rect">
            <a:avLst/>
          </a:prstGeom>
          <a:noFill/>
        </p:spPr>
        <p:txBody>
          <a:bodyPr wrap="square" anchor="ctr" lIns="27432" rIns="27432" tIns="18288" bIns="18288">
            <a:noAutofit/>
          </a:bodyPr>
          <a:lstStyle/>
          <a:p>
            <a:pPr algn="l"/>
            <a:r>
              <a:rPr sz="1300" b="0">
                <a:solidFill>
                  <a:srgbClr val="6C7682"/>
                </a:solidFill>
                <a:latin typeface="Aptos"/>
              </a:rPr>
              <a:t>EIA forecasts contain real information relative to a carry-forward rule</a:t>
            </a:r>
          </a:p>
        </p:txBody>
      </p:sp>
      <p:sp>
        <p:nvSpPr>
          <p:cNvPr id="4" name="Rectangle 3"/>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8</a:t>
            </a:r>
          </a:p>
        </p:txBody>
      </p:sp>
      <p:sp>
        <p:nvSpPr>
          <p:cNvPr id="6" name="TextBox 5"/>
          <p:cNvSpPr txBox="1"/>
          <p:nvPr/>
        </p:nvSpPr>
        <p:spPr>
          <a:xfrm>
            <a:off x="713232" y="1316736"/>
            <a:ext cx="5257800" cy="329184"/>
          </a:xfrm>
          <a:prstGeom prst="rect">
            <a:avLst/>
          </a:prstGeom>
          <a:noFill/>
        </p:spPr>
        <p:txBody>
          <a:bodyPr wrap="square" anchor="ctr" lIns="27432" rIns="27432" tIns="18288" bIns="18288">
            <a:noAutofit/>
          </a:bodyPr>
          <a:lstStyle/>
          <a:p>
            <a:pPr algn="ctr"/>
            <a:r>
              <a:rPr sz="1400" b="0">
                <a:solidFill>
                  <a:srgbClr val="6C7682"/>
                </a:solidFill>
                <a:latin typeface="Aptos"/>
              </a:rPr>
              <a:t>3-Year RMSE</a:t>
            </a:r>
          </a:p>
        </p:txBody>
      </p:sp>
      <p:sp>
        <p:nvSpPr>
          <p:cNvPr id="7" name="TextBox 6"/>
          <p:cNvSpPr txBox="1"/>
          <p:nvPr/>
        </p:nvSpPr>
        <p:spPr>
          <a:xfrm>
            <a:off x="713232" y="1627632"/>
            <a:ext cx="2212848" cy="274320"/>
          </a:xfrm>
          <a:prstGeom prst="rect">
            <a:avLst/>
          </a:prstGeom>
          <a:noFill/>
        </p:spPr>
        <p:txBody>
          <a:bodyPr wrap="square" anchor="ctr" lIns="27432" rIns="27432" tIns="18288" bIns="18288">
            <a:noAutofit/>
          </a:bodyPr>
          <a:lstStyle/>
          <a:p>
            <a:pPr algn="ctr"/>
            <a:r>
              <a:rPr sz="1400" b="1">
                <a:solidFill>
                  <a:srgbClr val="2D8B84"/>
                </a:solidFill>
                <a:latin typeface="Aptos"/>
              </a:rPr>
              <a:t>EIA</a:t>
            </a:r>
          </a:p>
        </p:txBody>
      </p:sp>
      <p:sp>
        <p:nvSpPr>
          <p:cNvPr id="8" name="TextBox 7"/>
          <p:cNvSpPr txBox="1"/>
          <p:nvPr/>
        </p:nvSpPr>
        <p:spPr>
          <a:xfrm>
            <a:off x="713232" y="1883664"/>
            <a:ext cx="2212848" cy="804672"/>
          </a:xfrm>
          <a:prstGeom prst="rect">
            <a:avLst/>
          </a:prstGeom>
          <a:noFill/>
        </p:spPr>
        <p:txBody>
          <a:bodyPr wrap="square" anchor="ctr" lIns="27432" rIns="27432" tIns="18288" bIns="18288">
            <a:noAutofit/>
          </a:bodyPr>
          <a:lstStyle/>
          <a:p>
            <a:pPr algn="ctr"/>
            <a:r>
              <a:rPr sz="5200" b="1">
                <a:solidFill>
                  <a:srgbClr val="2D8B84"/>
                </a:solidFill>
                <a:latin typeface="Aptos"/>
              </a:rPr>
              <a:t>34.97</a:t>
            </a:r>
          </a:p>
        </p:txBody>
      </p:sp>
      <p:sp>
        <p:nvSpPr>
          <p:cNvPr id="9" name="TextBox 8"/>
          <p:cNvSpPr txBox="1"/>
          <p:nvPr/>
        </p:nvSpPr>
        <p:spPr>
          <a:xfrm>
            <a:off x="2926080" y="2084831"/>
            <a:ext cx="841248" cy="411480"/>
          </a:xfrm>
          <a:prstGeom prst="rect">
            <a:avLst/>
          </a:prstGeom>
          <a:noFill/>
        </p:spPr>
        <p:txBody>
          <a:bodyPr wrap="square" anchor="ctr" lIns="27432" rIns="27432" tIns="18288" bIns="18288">
            <a:noAutofit/>
          </a:bodyPr>
          <a:lstStyle/>
          <a:p>
            <a:pPr algn="ctr"/>
            <a:r>
              <a:rPr sz="1500" b="0">
                <a:solidFill>
                  <a:srgbClr val="6C7682"/>
                </a:solidFill>
                <a:latin typeface="Aptos"/>
              </a:rPr>
              <a:t>vs</a:t>
            </a:r>
          </a:p>
        </p:txBody>
      </p:sp>
      <p:sp>
        <p:nvSpPr>
          <p:cNvPr id="10" name="TextBox 9"/>
          <p:cNvSpPr txBox="1"/>
          <p:nvPr/>
        </p:nvSpPr>
        <p:spPr>
          <a:xfrm>
            <a:off x="3767328" y="1627632"/>
            <a:ext cx="2212848" cy="274320"/>
          </a:xfrm>
          <a:prstGeom prst="rect">
            <a:avLst/>
          </a:prstGeom>
          <a:noFill/>
        </p:spPr>
        <p:txBody>
          <a:bodyPr wrap="square" anchor="ctr" lIns="27432" rIns="27432" tIns="18288" bIns="18288">
            <a:noAutofit/>
          </a:bodyPr>
          <a:lstStyle/>
          <a:p>
            <a:pPr algn="ctr"/>
            <a:r>
              <a:rPr sz="1400" b="1">
                <a:solidFill>
                  <a:srgbClr val="6C7682"/>
                </a:solidFill>
                <a:latin typeface="Aptos"/>
              </a:rPr>
              <a:t>Random Walk</a:t>
            </a:r>
          </a:p>
        </p:txBody>
      </p:sp>
      <p:sp>
        <p:nvSpPr>
          <p:cNvPr id="11" name="TextBox 10"/>
          <p:cNvSpPr txBox="1"/>
          <p:nvPr/>
        </p:nvSpPr>
        <p:spPr>
          <a:xfrm>
            <a:off x="3767328" y="1883664"/>
            <a:ext cx="2212848" cy="804672"/>
          </a:xfrm>
          <a:prstGeom prst="rect">
            <a:avLst/>
          </a:prstGeom>
          <a:noFill/>
        </p:spPr>
        <p:txBody>
          <a:bodyPr wrap="square" anchor="ctr" lIns="27432" rIns="27432" tIns="18288" bIns="18288">
            <a:noAutofit/>
          </a:bodyPr>
          <a:lstStyle/>
          <a:p>
            <a:pPr algn="ctr"/>
            <a:r>
              <a:rPr sz="5200" b="1">
                <a:solidFill>
                  <a:srgbClr val="6C7682"/>
                </a:solidFill>
                <a:latin typeface="Aptos"/>
              </a:rPr>
              <a:t>42.99</a:t>
            </a:r>
          </a:p>
        </p:txBody>
      </p:sp>
      <p:sp>
        <p:nvSpPr>
          <p:cNvPr id="12" name="TextBox 11"/>
          <p:cNvSpPr txBox="1"/>
          <p:nvPr/>
        </p:nvSpPr>
        <p:spPr>
          <a:xfrm>
            <a:off x="713232" y="2834640"/>
            <a:ext cx="5257800" cy="329184"/>
          </a:xfrm>
          <a:prstGeom prst="rect">
            <a:avLst/>
          </a:prstGeom>
          <a:noFill/>
        </p:spPr>
        <p:txBody>
          <a:bodyPr wrap="square" anchor="ctr" lIns="27432" rIns="27432" tIns="18288" bIns="18288">
            <a:noAutofit/>
          </a:bodyPr>
          <a:lstStyle/>
          <a:p>
            <a:pPr algn="ctr"/>
            <a:r>
              <a:rPr sz="1500" b="1">
                <a:solidFill>
                  <a:srgbClr val="2D8B84"/>
                </a:solidFill>
                <a:latin typeface="Aptos"/>
              </a:rPr>
              <a:t>EIA is 8.02 lower  (19% reduction)</a:t>
            </a:r>
          </a:p>
        </p:txBody>
      </p:sp>
      <p:sp>
        <p:nvSpPr>
          <p:cNvPr id="13" name="Rectangle 12"/>
          <p:cNvSpPr/>
          <p:nvPr/>
        </p:nvSpPr>
        <p:spPr>
          <a:xfrm>
            <a:off x="6099048" y="1298448"/>
            <a:ext cx="12700" cy="192024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316736"/>
            <a:ext cx="5257800" cy="329184"/>
          </a:xfrm>
          <a:prstGeom prst="rect">
            <a:avLst/>
          </a:prstGeom>
          <a:noFill/>
        </p:spPr>
        <p:txBody>
          <a:bodyPr wrap="square" anchor="ctr" lIns="27432" rIns="27432" tIns="18288" bIns="18288">
            <a:noAutofit/>
          </a:bodyPr>
          <a:lstStyle/>
          <a:p>
            <a:pPr algn="ctr"/>
            <a:r>
              <a:rPr sz="1400" b="0">
                <a:solidFill>
                  <a:srgbClr val="6C7682"/>
                </a:solidFill>
                <a:latin typeface="Aptos"/>
              </a:rPr>
              <a:t>5-Year RMSE</a:t>
            </a:r>
          </a:p>
        </p:txBody>
      </p:sp>
      <p:sp>
        <p:nvSpPr>
          <p:cNvPr id="15" name="TextBox 14"/>
          <p:cNvSpPr txBox="1"/>
          <p:nvPr/>
        </p:nvSpPr>
        <p:spPr>
          <a:xfrm>
            <a:off x="6400800" y="1627632"/>
            <a:ext cx="2212848" cy="274320"/>
          </a:xfrm>
          <a:prstGeom prst="rect">
            <a:avLst/>
          </a:prstGeom>
          <a:noFill/>
        </p:spPr>
        <p:txBody>
          <a:bodyPr wrap="square" anchor="ctr" lIns="27432" rIns="27432" tIns="18288" bIns="18288">
            <a:noAutofit/>
          </a:bodyPr>
          <a:lstStyle/>
          <a:p>
            <a:pPr algn="ctr"/>
            <a:r>
              <a:rPr sz="1400" b="1">
                <a:solidFill>
                  <a:srgbClr val="2D8B84"/>
                </a:solidFill>
                <a:latin typeface="Aptos"/>
              </a:rPr>
              <a:t>EIA</a:t>
            </a:r>
          </a:p>
        </p:txBody>
      </p:sp>
      <p:sp>
        <p:nvSpPr>
          <p:cNvPr id="16" name="TextBox 15"/>
          <p:cNvSpPr txBox="1"/>
          <p:nvPr/>
        </p:nvSpPr>
        <p:spPr>
          <a:xfrm>
            <a:off x="6400800" y="1883664"/>
            <a:ext cx="2212848" cy="804672"/>
          </a:xfrm>
          <a:prstGeom prst="rect">
            <a:avLst/>
          </a:prstGeom>
          <a:noFill/>
        </p:spPr>
        <p:txBody>
          <a:bodyPr wrap="square" anchor="ctr" lIns="27432" rIns="27432" tIns="18288" bIns="18288">
            <a:noAutofit/>
          </a:bodyPr>
          <a:lstStyle/>
          <a:p>
            <a:pPr algn="ctr"/>
            <a:r>
              <a:rPr sz="5200" b="1">
                <a:solidFill>
                  <a:srgbClr val="2D8B84"/>
                </a:solidFill>
                <a:latin typeface="Aptos"/>
              </a:rPr>
              <a:t>34.32</a:t>
            </a:r>
          </a:p>
        </p:txBody>
      </p:sp>
      <p:sp>
        <p:nvSpPr>
          <p:cNvPr id="17" name="TextBox 16"/>
          <p:cNvSpPr txBox="1"/>
          <p:nvPr/>
        </p:nvSpPr>
        <p:spPr>
          <a:xfrm>
            <a:off x="8613648" y="2084831"/>
            <a:ext cx="841248" cy="411480"/>
          </a:xfrm>
          <a:prstGeom prst="rect">
            <a:avLst/>
          </a:prstGeom>
          <a:noFill/>
        </p:spPr>
        <p:txBody>
          <a:bodyPr wrap="square" anchor="ctr" lIns="27432" rIns="27432" tIns="18288" bIns="18288">
            <a:noAutofit/>
          </a:bodyPr>
          <a:lstStyle/>
          <a:p>
            <a:pPr algn="ctr"/>
            <a:r>
              <a:rPr sz="1500" b="0">
                <a:solidFill>
                  <a:srgbClr val="6C7682"/>
                </a:solidFill>
                <a:latin typeface="Aptos"/>
              </a:rPr>
              <a:t>vs</a:t>
            </a:r>
          </a:p>
        </p:txBody>
      </p:sp>
      <p:sp>
        <p:nvSpPr>
          <p:cNvPr id="18" name="TextBox 17"/>
          <p:cNvSpPr txBox="1"/>
          <p:nvPr/>
        </p:nvSpPr>
        <p:spPr>
          <a:xfrm>
            <a:off x="9454896" y="1627632"/>
            <a:ext cx="2212848" cy="274320"/>
          </a:xfrm>
          <a:prstGeom prst="rect">
            <a:avLst/>
          </a:prstGeom>
          <a:noFill/>
        </p:spPr>
        <p:txBody>
          <a:bodyPr wrap="square" anchor="ctr" lIns="27432" rIns="27432" tIns="18288" bIns="18288">
            <a:noAutofit/>
          </a:bodyPr>
          <a:lstStyle/>
          <a:p>
            <a:pPr algn="ctr"/>
            <a:r>
              <a:rPr sz="1400" b="1">
                <a:solidFill>
                  <a:srgbClr val="6C7682"/>
                </a:solidFill>
                <a:latin typeface="Aptos"/>
              </a:rPr>
              <a:t>Random Walk</a:t>
            </a:r>
          </a:p>
        </p:txBody>
      </p:sp>
      <p:sp>
        <p:nvSpPr>
          <p:cNvPr id="19" name="TextBox 18"/>
          <p:cNvSpPr txBox="1"/>
          <p:nvPr/>
        </p:nvSpPr>
        <p:spPr>
          <a:xfrm>
            <a:off x="9454896" y="1883664"/>
            <a:ext cx="2212848" cy="804672"/>
          </a:xfrm>
          <a:prstGeom prst="rect">
            <a:avLst/>
          </a:prstGeom>
          <a:noFill/>
        </p:spPr>
        <p:txBody>
          <a:bodyPr wrap="square" anchor="ctr" lIns="27432" rIns="27432" tIns="18288" bIns="18288">
            <a:noAutofit/>
          </a:bodyPr>
          <a:lstStyle/>
          <a:p>
            <a:pPr algn="ctr"/>
            <a:r>
              <a:rPr sz="5200" b="1">
                <a:solidFill>
                  <a:srgbClr val="6C7682"/>
                </a:solidFill>
                <a:latin typeface="Aptos"/>
              </a:rPr>
              <a:t>47.34</a:t>
            </a:r>
          </a:p>
        </p:txBody>
      </p:sp>
      <p:sp>
        <p:nvSpPr>
          <p:cNvPr id="20" name="TextBox 19"/>
          <p:cNvSpPr txBox="1"/>
          <p:nvPr/>
        </p:nvSpPr>
        <p:spPr>
          <a:xfrm>
            <a:off x="6400800" y="2834640"/>
            <a:ext cx="5257800" cy="329184"/>
          </a:xfrm>
          <a:prstGeom prst="rect">
            <a:avLst/>
          </a:prstGeom>
          <a:noFill/>
        </p:spPr>
        <p:txBody>
          <a:bodyPr wrap="square" anchor="ctr" lIns="27432" rIns="27432" tIns="18288" bIns="18288">
            <a:noAutofit/>
          </a:bodyPr>
          <a:lstStyle/>
          <a:p>
            <a:pPr algn="ctr"/>
            <a:r>
              <a:rPr sz="1500" b="1">
                <a:solidFill>
                  <a:srgbClr val="2D8B84"/>
                </a:solidFill>
                <a:latin typeface="Aptos"/>
              </a:rPr>
              <a:t>EIA is 13.02 lower  (28% reduction)</a:t>
            </a:r>
          </a:p>
        </p:txBody>
      </p:sp>
      <p:sp>
        <p:nvSpPr>
          <p:cNvPr id="21" name="Rectangle 20"/>
          <p:cNvSpPr/>
          <p:nvPr/>
        </p:nvSpPr>
        <p:spPr>
          <a:xfrm>
            <a:off x="658368" y="3310128"/>
            <a:ext cx="10881360" cy="127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474720"/>
            <a:ext cx="10607040" cy="1005840"/>
          </a:xfrm>
          <a:prstGeom prst="rect">
            <a:avLst/>
          </a:prstGeom>
          <a:noFill/>
        </p:spPr>
        <p:txBody>
          <a:bodyPr wrap="square" anchor="t" lIns="36576" rIns="36576" tIns="36576" bIns="36576">
            <a:noAutofit/>
          </a:bodyPr>
          <a:lstStyle/>
          <a:p>
            <a:pPr algn="l">
              <a:lnSpc>
                <a:spcPct val="115000"/>
              </a:lnSpc>
            </a:pPr>
            <a:r>
              <a:rPr sz="1800">
                <a:solidFill>
                  <a:srgbClr val="142236"/>
                </a:solidFill>
                <a:latin typeface="Aptos"/>
              </a:rPr>
              <a:t>•  EIA also beats random walk on MAE: 26.01 vs 31.66 (3-year);  28.09 vs 38.90 (5-year).</a:t>
            </a:r>
          </a:p>
          <a:p>
            <a:pPr algn="l">
              <a:lnSpc>
                <a:spcPct val="115000"/>
              </a:lnSpc>
              <a:spcBef>
                <a:spcPts val="500"/>
              </a:spcBef>
            </a:pPr>
            <a:r>
              <a:rPr sz="1800">
                <a:solidFill>
                  <a:srgbClr val="142236"/>
                </a:solidFill>
                <a:latin typeface="Aptos"/>
              </a:rPr>
              <a:t>•  Finding: EIA long-term Brent forecasts are informative — they outperform a simple carry-forward rule.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But EIA Is Optimistically Biased</a:t>
            </a:r>
          </a:p>
        </p:txBody>
      </p:sp>
      <p:sp>
        <p:nvSpPr>
          <p:cNvPr id="3" name="TextBox 2"/>
          <p:cNvSpPr txBox="1"/>
          <p:nvPr/>
        </p:nvSpPr>
        <p:spPr>
          <a:xfrm>
            <a:off x="594360" y="804672"/>
            <a:ext cx="10515600" cy="274320"/>
          </a:xfrm>
          <a:prstGeom prst="rect">
            <a:avLst/>
          </a:prstGeom>
          <a:noFill/>
        </p:spPr>
        <p:txBody>
          <a:bodyPr wrap="square" anchor="ctr" lIns="27432" rIns="27432" tIns="18288" bIns="18288">
            <a:noAutofit/>
          </a:bodyPr>
          <a:lstStyle/>
          <a:p>
            <a:pPr algn="l"/>
            <a:r>
              <a:rPr sz="1300" b="0">
                <a:solidFill>
                  <a:srgbClr val="6C7682"/>
                </a:solidFill>
                <a:latin typeface="Aptos"/>
              </a:rPr>
              <a:t>Positive mean error indicates systematic overprediction of realized Brent</a:t>
            </a:r>
          </a:p>
        </p:txBody>
      </p:sp>
      <p:sp>
        <p:nvSpPr>
          <p:cNvPr id="4" name="Rectangle 3"/>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9</a:t>
            </a:r>
          </a:p>
        </p:txBody>
      </p:sp>
      <p:sp>
        <p:nvSpPr>
          <p:cNvPr id="6" name="TextBox 5"/>
          <p:cNvSpPr txBox="1"/>
          <p:nvPr/>
        </p:nvSpPr>
        <p:spPr>
          <a:xfrm>
            <a:off x="658368" y="1335024"/>
            <a:ext cx="3520440" cy="292608"/>
          </a:xfrm>
          <a:prstGeom prst="rect">
            <a:avLst/>
          </a:prstGeom>
          <a:noFill/>
        </p:spPr>
        <p:txBody>
          <a:bodyPr wrap="square" anchor="ctr" lIns="27432" rIns="27432" tIns="18288" bIns="18288">
            <a:noAutofit/>
          </a:bodyPr>
          <a:lstStyle/>
          <a:p>
            <a:pPr algn="ctr"/>
            <a:r>
              <a:rPr sz="1400" b="0">
                <a:solidFill>
                  <a:srgbClr val="6C7682"/>
                </a:solidFill>
                <a:latin typeface="Aptos"/>
              </a:rPr>
              <a:t>3-Year Mean Error</a:t>
            </a:r>
          </a:p>
        </p:txBody>
      </p:sp>
      <p:sp>
        <p:nvSpPr>
          <p:cNvPr id="7" name="TextBox 6"/>
          <p:cNvSpPr txBox="1"/>
          <p:nvPr/>
        </p:nvSpPr>
        <p:spPr>
          <a:xfrm>
            <a:off x="658368" y="1609344"/>
            <a:ext cx="3520440" cy="1005840"/>
          </a:xfrm>
          <a:prstGeom prst="rect">
            <a:avLst/>
          </a:prstGeom>
          <a:noFill/>
        </p:spPr>
        <p:txBody>
          <a:bodyPr wrap="square" anchor="ctr" lIns="27432" rIns="27432" tIns="18288" bIns="18288">
            <a:noAutofit/>
          </a:bodyPr>
          <a:lstStyle/>
          <a:p>
            <a:pPr algn="ctr"/>
            <a:r>
              <a:rPr sz="6200" b="1">
                <a:solidFill>
                  <a:srgbClr val="CE742B"/>
                </a:solidFill>
                <a:latin typeface="Aptos"/>
              </a:rPr>
              <a:t>+20.44</a:t>
            </a:r>
          </a:p>
        </p:txBody>
      </p:sp>
      <p:sp>
        <p:nvSpPr>
          <p:cNvPr id="8" name="TextBox 7"/>
          <p:cNvSpPr txBox="1"/>
          <p:nvPr/>
        </p:nvSpPr>
        <p:spPr>
          <a:xfrm>
            <a:off x="658368" y="2596896"/>
            <a:ext cx="3520440" cy="329184"/>
          </a:xfrm>
          <a:prstGeom prst="rect">
            <a:avLst/>
          </a:prstGeom>
          <a:noFill/>
        </p:spPr>
        <p:txBody>
          <a:bodyPr wrap="square" anchor="ctr" lIns="27432" rIns="27432" tIns="18288" bIns="18288">
            <a:noAutofit/>
          </a:bodyPr>
          <a:lstStyle/>
          <a:p>
            <a:pPr algn="ctr"/>
            <a:r>
              <a:rPr sz="1400" b="0">
                <a:solidFill>
                  <a:srgbClr val="6C7682"/>
                </a:solidFill>
                <a:latin typeface="Aptos"/>
              </a:rPr>
              <a:t>USD/bbl average overprediction</a:t>
            </a:r>
          </a:p>
        </p:txBody>
      </p:sp>
      <p:sp>
        <p:nvSpPr>
          <p:cNvPr id="9" name="TextBox 8"/>
          <p:cNvSpPr txBox="1"/>
          <p:nvPr/>
        </p:nvSpPr>
        <p:spPr>
          <a:xfrm>
            <a:off x="4498848" y="1335024"/>
            <a:ext cx="3520440" cy="292608"/>
          </a:xfrm>
          <a:prstGeom prst="rect">
            <a:avLst/>
          </a:prstGeom>
          <a:noFill/>
        </p:spPr>
        <p:txBody>
          <a:bodyPr wrap="square" anchor="ctr" lIns="27432" rIns="27432" tIns="18288" bIns="18288">
            <a:noAutofit/>
          </a:bodyPr>
          <a:lstStyle/>
          <a:p>
            <a:pPr algn="ctr"/>
            <a:r>
              <a:rPr sz="1400" b="0">
                <a:solidFill>
                  <a:srgbClr val="6C7682"/>
                </a:solidFill>
                <a:latin typeface="Aptos"/>
              </a:rPr>
              <a:t>5-Year Mean Error</a:t>
            </a:r>
          </a:p>
        </p:txBody>
      </p:sp>
      <p:sp>
        <p:nvSpPr>
          <p:cNvPr id="10" name="TextBox 9"/>
          <p:cNvSpPr txBox="1"/>
          <p:nvPr/>
        </p:nvSpPr>
        <p:spPr>
          <a:xfrm>
            <a:off x="4498848" y="1609344"/>
            <a:ext cx="3520440" cy="1005840"/>
          </a:xfrm>
          <a:prstGeom prst="rect">
            <a:avLst/>
          </a:prstGeom>
          <a:noFill/>
        </p:spPr>
        <p:txBody>
          <a:bodyPr wrap="square" anchor="ctr" lIns="27432" rIns="27432" tIns="18288" bIns="18288">
            <a:noAutofit/>
          </a:bodyPr>
          <a:lstStyle/>
          <a:p>
            <a:pPr algn="ctr"/>
            <a:r>
              <a:rPr sz="6200" b="1">
                <a:solidFill>
                  <a:srgbClr val="CE742B"/>
                </a:solidFill>
                <a:latin typeface="Aptos"/>
              </a:rPr>
              <a:t>+26.64</a:t>
            </a:r>
          </a:p>
        </p:txBody>
      </p:sp>
      <p:sp>
        <p:nvSpPr>
          <p:cNvPr id="11" name="TextBox 10"/>
          <p:cNvSpPr txBox="1"/>
          <p:nvPr/>
        </p:nvSpPr>
        <p:spPr>
          <a:xfrm>
            <a:off x="4498848" y="2596896"/>
            <a:ext cx="3520440" cy="329184"/>
          </a:xfrm>
          <a:prstGeom prst="rect">
            <a:avLst/>
          </a:prstGeom>
          <a:noFill/>
        </p:spPr>
        <p:txBody>
          <a:bodyPr wrap="square" anchor="ctr" lIns="27432" rIns="27432" tIns="18288" bIns="18288">
            <a:noAutofit/>
          </a:bodyPr>
          <a:lstStyle/>
          <a:p>
            <a:pPr algn="ctr"/>
            <a:r>
              <a:rPr sz="1400" b="0">
                <a:solidFill>
                  <a:srgbClr val="6C7682"/>
                </a:solidFill>
                <a:latin typeface="Aptos"/>
              </a:rPr>
              <a:t>USD/bbl average overprediction</a:t>
            </a:r>
          </a:p>
        </p:txBody>
      </p:sp>
      <p:sp>
        <p:nvSpPr>
          <p:cNvPr id="12" name="Rectangle 11"/>
          <p:cNvSpPr/>
          <p:nvPr/>
        </p:nvSpPr>
        <p:spPr>
          <a:xfrm>
            <a:off x="658368" y="3072384"/>
            <a:ext cx="6995160" cy="127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3246120"/>
            <a:ext cx="6903720" cy="1965960"/>
          </a:xfrm>
          <a:prstGeom prst="rect">
            <a:avLst/>
          </a:prstGeom>
          <a:noFill/>
        </p:spPr>
        <p:txBody>
          <a:bodyPr wrap="square" anchor="t" lIns="36576" rIns="36576" tIns="36576" bIns="36576">
            <a:noAutofit/>
          </a:bodyPr>
          <a:lstStyle/>
          <a:p>
            <a:pPr algn="l">
              <a:lnSpc>
                <a:spcPct val="115000"/>
              </a:lnSpc>
            </a:pPr>
            <a:r>
              <a:rPr sz="1800">
                <a:solidFill>
                  <a:srgbClr val="142236"/>
                </a:solidFill>
                <a:latin typeface="Aptos"/>
              </a:rPr>
              <a:t>•  Positive ME means EIA forecasts are above realized Brent on average — optimistically biased.</a:t>
            </a:r>
          </a:p>
          <a:p>
            <a:pPr algn="l">
              <a:lnSpc>
                <a:spcPct val="115000"/>
              </a:lnSpc>
              <a:spcBef>
                <a:spcPts val="700"/>
              </a:spcBef>
            </a:pPr>
            <a:r>
              <a:rPr sz="1800">
                <a:solidFill>
                  <a:srgbClr val="142236"/>
                </a:solidFill>
                <a:latin typeface="Aptos"/>
              </a:rPr>
              <a:t>•  Bias compounds in DCF: inflated price → inflated revenue → inflated NPV and IRR.</a:t>
            </a:r>
          </a:p>
          <a:p>
            <a:pPr algn="l">
              <a:lnSpc>
                <a:spcPct val="115000"/>
              </a:lnSpc>
              <a:spcBef>
                <a:spcPts val="700"/>
              </a:spcBef>
            </a:pPr>
            <a:r>
              <a:rPr sz="1800">
                <a:solidFill>
                  <a:srgbClr val="142236"/>
                </a:solidFill>
                <a:latin typeface="Aptos"/>
              </a:rPr>
              <a:t>•  Implication: EIA is informative, but should not be used mechanically without bias adjustment.</a:t>
            </a:r>
          </a:p>
        </p:txBody>
      </p:sp>
      <p:sp>
        <p:nvSpPr>
          <p:cNvPr id="14" name="Rounded Rectangle 13"/>
          <p:cNvSpPr/>
          <p:nvPr/>
        </p:nvSpPr>
        <p:spPr>
          <a:xfrm>
            <a:off x="8065008" y="1298448"/>
            <a:ext cx="3520440" cy="3977639"/>
          </a:xfrm>
          <a:prstGeom prst="roundRect">
            <a:avLst/>
          </a:prstGeom>
          <a:solidFill>
            <a:srgbClr val="FCF2EA"/>
          </a:solidFill>
          <a:ln w="19050">
            <a:solidFill>
              <a:srgbClr val="CE742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noAutofit/>
          </a:bodyPr>
          <a:lstStyle/>
          <a:p>
            <a:pPr algn="ctr">
              <a:lnSpc>
                <a:spcPct val="115000"/>
              </a:lnSpc>
            </a:pPr>
            <a:r>
              <a:rPr sz="1600" b="1">
                <a:solidFill>
                  <a:srgbClr val="CE742B"/>
                </a:solidFill>
                <a:latin typeface="Aptos"/>
              </a:rPr>
              <a:t>Capital Budgeting Risk</a:t>
            </a:r>
          </a:p>
          <a:p>
            <a:pPr algn="ctr">
              <a:lnSpc>
                <a:spcPct val="120000"/>
              </a:lnSpc>
            </a:pPr>
            <a:r>
              <a:rPr sz="1400" b="0">
                <a:solidFill>
                  <a:srgbClr val="142236"/>
                </a:solidFill>
                <a:latin typeface="Aptos"/>
              </a:rPr>
              <a:t>
Higher forecast prices inflate projected revenue, NPV, and IRR — creating a systematic bias toward over-approval of upstream projects.</a:t>
            </a:r>
          </a:p>
          <a:p>
            <a:pPr algn="ctr">
              <a:lnSpc>
                <a:spcPct val="115000"/>
              </a:lnSpc>
              <a:spcBef>
                <a:spcPts val="800"/>
              </a:spcBef>
            </a:pPr>
            <a:r>
              <a:rPr sz="1500" b="1">
                <a:solidFill>
                  <a:srgbClr val="AA413E"/>
                </a:solidFill>
                <a:latin typeface="Aptos"/>
              </a:rPr>
              <a:t>
Risk: Overinvestment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Rolling Model Extension</a:t>
            </a:r>
          </a:p>
        </p:txBody>
      </p:sp>
      <p:sp>
        <p:nvSpPr>
          <p:cNvPr id="3" name="TextBox 2"/>
          <p:cNvSpPr txBox="1"/>
          <p:nvPr/>
        </p:nvSpPr>
        <p:spPr>
          <a:xfrm>
            <a:off x="594360" y="804672"/>
            <a:ext cx="10515600" cy="274320"/>
          </a:xfrm>
          <a:prstGeom prst="rect">
            <a:avLst/>
          </a:prstGeom>
          <a:noFill/>
        </p:spPr>
        <p:txBody>
          <a:bodyPr wrap="square" anchor="ctr" lIns="27432" rIns="27432" tIns="18288" bIns="18288">
            <a:noAutofit/>
          </a:bodyPr>
          <a:lstStyle/>
          <a:p>
            <a:pPr algn="l"/>
            <a:r>
              <a:rPr sz="1300" b="0">
                <a:solidFill>
                  <a:srgbClr val="6C7682"/>
                </a:solidFill>
                <a:latin typeface="Aptos"/>
              </a:rPr>
              <a:t>Simple econometric extensions do not improve on EIA</a:t>
            </a:r>
          </a:p>
        </p:txBody>
      </p:sp>
      <p:sp>
        <p:nvSpPr>
          <p:cNvPr id="4" name="Rectangle 3"/>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10</a:t>
            </a:r>
          </a:p>
        </p:txBody>
      </p:sp>
      <p:graphicFrame>
        <p:nvGraphicFramePr>
          <p:cNvPr id="6" name="Table 5"/>
          <p:cNvGraphicFramePr>
            <a:graphicFrameLocks noGrp="1"/>
          </p:cNvGraphicFramePr>
          <p:nvPr/>
        </p:nvGraphicFramePr>
        <p:xfrm>
          <a:off x="713232" y="1316736"/>
          <a:ext cx="6227064" cy="2606040"/>
        </p:xfrm>
        <a:graphic>
          <a:graphicData uri="http://schemas.openxmlformats.org/drawingml/2006/table">
            <a:tbl>
              <a:tblPr firstRow="1" bandRow="1">
                <a:tableStyleId>{5C22544A-7EE6-4342-B048-85BDC9FD1C3A}</a:tableStyleId>
              </a:tblPr>
              <a:tblGrid>
                <a:gridCol w="2788920"/>
                <a:gridCol w="1719072"/>
                <a:gridCol w="1719072"/>
              </a:tblGrid>
              <a:tr h="651510">
                <a:tc>
                  <a:txBody>
                    <a:bodyPr wrap="square"/>
                    <a:lstStyle/>
                    <a:p>
                      <a:pPr algn="l">
                        <a:lnSpc>
                          <a:spcPct val="110000"/>
                        </a:lnSpc>
                      </a:pPr>
                      <a:r>
                        <a:rPr sz="1700" b="1">
                          <a:solidFill>
                            <a:srgbClr val="FFFFFF"/>
                          </a:solidFill>
                          <a:latin typeface="Aptos"/>
                        </a:rPr>
                        <a:t>Model</a:t>
                      </a:r>
                    </a:p>
                  </a:txBody>
                  <a:tcPr marL="91440" marR="73152" marT="64008" marB="64008" anchor="ctr">
                    <a:solidFill>
                      <a:srgbClr val="142236"/>
                    </a:solidFill>
                  </a:tcPr>
                </a:tc>
                <a:tc>
                  <a:txBody>
                    <a:bodyPr wrap="square"/>
                    <a:lstStyle/>
                    <a:p>
                      <a:pPr algn="ctr">
                        <a:lnSpc>
                          <a:spcPct val="110000"/>
                        </a:lnSpc>
                      </a:pPr>
                      <a:r>
                        <a:rPr sz="1700" b="1">
                          <a:solidFill>
                            <a:srgbClr val="FFFFFF"/>
                          </a:solidFill>
                          <a:latin typeface="Aptos"/>
                        </a:rPr>
                        <a:t>3-Year RMSE</a:t>
                      </a:r>
                    </a:p>
                  </a:txBody>
                  <a:tcPr marL="91440" marR="73152" marT="64008" marB="64008" anchor="ctr">
                    <a:solidFill>
                      <a:srgbClr val="142236"/>
                    </a:solidFill>
                  </a:tcPr>
                </a:tc>
                <a:tc>
                  <a:txBody>
                    <a:bodyPr wrap="square"/>
                    <a:lstStyle/>
                    <a:p>
                      <a:pPr algn="ctr">
                        <a:lnSpc>
                          <a:spcPct val="110000"/>
                        </a:lnSpc>
                      </a:pPr>
                      <a:r>
                        <a:rPr sz="1700" b="1">
                          <a:solidFill>
                            <a:srgbClr val="FFFFFF"/>
                          </a:solidFill>
                          <a:latin typeface="Aptos"/>
                        </a:rPr>
                        <a:t>5-Year RMSE</a:t>
                      </a:r>
                    </a:p>
                  </a:txBody>
                  <a:tcPr marL="91440" marR="73152" marT="64008" marB="64008" anchor="ctr">
                    <a:solidFill>
                      <a:srgbClr val="142236"/>
                    </a:solidFill>
                  </a:tcPr>
                </a:tc>
              </a:tr>
              <a:tr h="651510">
                <a:tc>
                  <a:txBody>
                    <a:bodyPr wrap="square"/>
                    <a:lstStyle/>
                    <a:p>
                      <a:pPr algn="l">
                        <a:lnSpc>
                          <a:spcPct val="110000"/>
                        </a:lnSpc>
                      </a:pPr>
                      <a:r>
                        <a:rPr sz="1700">
                          <a:solidFill>
                            <a:srgbClr val="142236"/>
                          </a:solidFill>
                          <a:latin typeface="Aptos"/>
                        </a:rPr>
                        <a:t>EIA</a:t>
                      </a:r>
                    </a:p>
                  </a:txBody>
                  <a:tcPr marL="91440" marR="73152" marT="64008" marB="64008" anchor="ctr">
                    <a:solidFill>
                      <a:srgbClr val="FFFFFF"/>
                    </a:solidFill>
                  </a:tcPr>
                </a:tc>
                <a:tc>
                  <a:txBody>
                    <a:bodyPr wrap="square"/>
                    <a:lstStyle/>
                    <a:p>
                      <a:pPr algn="ctr">
                        <a:lnSpc>
                          <a:spcPct val="110000"/>
                        </a:lnSpc>
                      </a:pPr>
                      <a:r>
                        <a:rPr sz="1700">
                          <a:solidFill>
                            <a:srgbClr val="142236"/>
                          </a:solidFill>
                          <a:latin typeface="Aptos"/>
                        </a:rPr>
                        <a:t>34.97</a:t>
                      </a:r>
                    </a:p>
                  </a:txBody>
                  <a:tcPr marL="91440" marR="73152" marT="64008" marB="64008" anchor="ctr">
                    <a:solidFill>
                      <a:srgbClr val="FFFFFF"/>
                    </a:solidFill>
                  </a:tcPr>
                </a:tc>
                <a:tc>
                  <a:txBody>
                    <a:bodyPr wrap="square"/>
                    <a:lstStyle/>
                    <a:p>
                      <a:pPr algn="ctr">
                        <a:lnSpc>
                          <a:spcPct val="110000"/>
                        </a:lnSpc>
                      </a:pPr>
                      <a:r>
                        <a:rPr sz="1700">
                          <a:solidFill>
                            <a:srgbClr val="142236"/>
                          </a:solidFill>
                          <a:latin typeface="Aptos"/>
                        </a:rPr>
                        <a:t>34.32</a:t>
                      </a:r>
                    </a:p>
                  </a:txBody>
                  <a:tcPr marL="91440" marR="73152" marT="64008" marB="64008" anchor="ctr">
                    <a:solidFill>
                      <a:srgbClr val="FFFFFF"/>
                    </a:solidFill>
                  </a:tcPr>
                </a:tc>
              </a:tr>
              <a:tr h="651510">
                <a:tc>
                  <a:txBody>
                    <a:bodyPr wrap="square"/>
                    <a:lstStyle/>
                    <a:p>
                      <a:pPr algn="l">
                        <a:lnSpc>
                          <a:spcPct val="110000"/>
                        </a:lnSpc>
                      </a:pPr>
                      <a:r>
                        <a:rPr sz="1700">
                          <a:solidFill>
                            <a:srgbClr val="142236"/>
                          </a:solidFill>
                          <a:latin typeface="Aptos"/>
                        </a:rPr>
                        <a:t>Rolling AR</a:t>
                      </a:r>
                    </a:p>
                  </a:txBody>
                  <a:tcPr marL="91440" marR="73152" marT="64008" marB="64008" anchor="ctr">
                    <a:solidFill>
                      <a:srgbClr val="F8F9FA"/>
                    </a:solidFill>
                  </a:tcPr>
                </a:tc>
                <a:tc>
                  <a:txBody>
                    <a:bodyPr wrap="square"/>
                    <a:lstStyle/>
                    <a:p>
                      <a:pPr algn="ctr">
                        <a:lnSpc>
                          <a:spcPct val="110000"/>
                        </a:lnSpc>
                      </a:pPr>
                      <a:r>
                        <a:rPr sz="1700">
                          <a:solidFill>
                            <a:srgbClr val="142236"/>
                          </a:solidFill>
                          <a:latin typeface="Aptos"/>
                        </a:rPr>
                        <a:t>48.95</a:t>
                      </a:r>
                    </a:p>
                  </a:txBody>
                  <a:tcPr marL="91440" marR="73152" marT="64008" marB="64008" anchor="ctr">
                    <a:solidFill>
                      <a:srgbClr val="F8F9FA"/>
                    </a:solidFill>
                  </a:tcPr>
                </a:tc>
                <a:tc>
                  <a:txBody>
                    <a:bodyPr wrap="square"/>
                    <a:lstStyle/>
                    <a:p>
                      <a:pPr algn="ctr">
                        <a:lnSpc>
                          <a:spcPct val="110000"/>
                        </a:lnSpc>
                      </a:pPr>
                      <a:r>
                        <a:rPr sz="1700">
                          <a:solidFill>
                            <a:srgbClr val="142236"/>
                          </a:solidFill>
                          <a:latin typeface="Aptos"/>
                        </a:rPr>
                        <a:t>51.24</a:t>
                      </a:r>
                    </a:p>
                  </a:txBody>
                  <a:tcPr marL="91440" marR="73152" marT="64008" marB="64008" anchor="ctr">
                    <a:solidFill>
                      <a:srgbClr val="F8F9FA"/>
                    </a:solidFill>
                  </a:tcPr>
                </a:tc>
              </a:tr>
              <a:tr h="651510">
                <a:tc>
                  <a:txBody>
                    <a:bodyPr wrap="square"/>
                    <a:lstStyle/>
                    <a:p>
                      <a:pPr algn="l">
                        <a:lnSpc>
                          <a:spcPct val="110000"/>
                        </a:lnSpc>
                      </a:pPr>
                      <a:r>
                        <a:rPr sz="1700">
                          <a:solidFill>
                            <a:srgbClr val="142236"/>
                          </a:solidFill>
                          <a:latin typeface="Aptos"/>
                        </a:rPr>
                        <a:t>Rolling AR + Futures</a:t>
                      </a:r>
                    </a:p>
                  </a:txBody>
                  <a:tcPr marL="91440" marR="73152" marT="64008" marB="64008" anchor="ctr">
                    <a:solidFill>
                      <a:srgbClr val="FFFFFF"/>
                    </a:solidFill>
                  </a:tcPr>
                </a:tc>
                <a:tc>
                  <a:txBody>
                    <a:bodyPr wrap="square"/>
                    <a:lstStyle/>
                    <a:p>
                      <a:pPr algn="ctr">
                        <a:lnSpc>
                          <a:spcPct val="110000"/>
                        </a:lnSpc>
                      </a:pPr>
                      <a:r>
                        <a:rPr sz="1700">
                          <a:solidFill>
                            <a:srgbClr val="142236"/>
                          </a:solidFill>
                          <a:latin typeface="Aptos"/>
                        </a:rPr>
                        <a:t>52.51</a:t>
                      </a:r>
                    </a:p>
                  </a:txBody>
                  <a:tcPr marL="91440" marR="73152" marT="64008" marB="64008" anchor="ctr">
                    <a:solidFill>
                      <a:srgbClr val="FFFFFF"/>
                    </a:solidFill>
                  </a:tcPr>
                </a:tc>
                <a:tc>
                  <a:txBody>
                    <a:bodyPr wrap="square"/>
                    <a:lstStyle/>
                    <a:p>
                      <a:pPr algn="ctr">
                        <a:lnSpc>
                          <a:spcPct val="110000"/>
                        </a:lnSpc>
                      </a:pPr>
                      <a:r>
                        <a:rPr sz="1700">
                          <a:solidFill>
                            <a:srgbClr val="142236"/>
                          </a:solidFill>
                          <a:latin typeface="Aptos"/>
                        </a:rPr>
                        <a:t>53.23</a:t>
                      </a:r>
                    </a:p>
                  </a:txBody>
                  <a:tcPr marL="91440" marR="73152" marT="64008" marB="64008" anchor="ctr">
                    <a:solidFill>
                      <a:srgbClr val="FFFFFF"/>
                    </a:solidFill>
                  </a:tcPr>
                </a:tc>
              </a:tr>
            </a:tbl>
          </a:graphicData>
        </a:graphic>
      </p:graphicFrame>
      <p:sp>
        <p:nvSpPr>
          <p:cNvPr id="7" name="TextBox 6"/>
          <p:cNvSpPr txBox="1"/>
          <p:nvPr/>
        </p:nvSpPr>
        <p:spPr>
          <a:xfrm>
            <a:off x="7479792" y="1316736"/>
            <a:ext cx="4114800" cy="411480"/>
          </a:xfrm>
          <a:prstGeom prst="rect">
            <a:avLst/>
          </a:prstGeom>
          <a:noFill/>
        </p:spPr>
        <p:txBody>
          <a:bodyPr wrap="square" anchor="ctr" lIns="27432" rIns="27432" tIns="18288" bIns="18288">
            <a:noAutofit/>
          </a:bodyPr>
          <a:lstStyle/>
          <a:p>
            <a:pPr algn="l"/>
            <a:r>
              <a:rPr sz="1600" b="1">
                <a:solidFill>
                  <a:srgbClr val="142236"/>
                </a:solidFill>
                <a:latin typeface="Aptos"/>
              </a:rPr>
              <a:t>Model Details</a:t>
            </a:r>
          </a:p>
        </p:txBody>
      </p:sp>
      <p:sp>
        <p:nvSpPr>
          <p:cNvPr id="8" name="TextBox 7"/>
          <p:cNvSpPr txBox="1"/>
          <p:nvPr/>
        </p:nvSpPr>
        <p:spPr>
          <a:xfrm>
            <a:off x="7479792" y="1783080"/>
            <a:ext cx="4114800" cy="1755648"/>
          </a:xfrm>
          <a:prstGeom prst="rect">
            <a:avLst/>
          </a:prstGeom>
          <a:noFill/>
        </p:spPr>
        <p:txBody>
          <a:bodyPr wrap="square" anchor="t" lIns="36576" rIns="36576" tIns="36576" bIns="36576">
            <a:noAutofit/>
          </a:bodyPr>
          <a:lstStyle/>
          <a:p>
            <a:pPr algn="l">
              <a:lnSpc>
                <a:spcPct val="115000"/>
              </a:lnSpc>
            </a:pPr>
            <a:r>
              <a:rPr sz="1600">
                <a:solidFill>
                  <a:srgbClr val="142236"/>
                </a:solidFill>
                <a:latin typeface="Aptos"/>
              </a:rPr>
              <a:t>•  Rolling AR: autoregression on lagged annual Brent</a:t>
            </a:r>
          </a:p>
          <a:p>
            <a:pPr algn="l">
              <a:lnSpc>
                <a:spcPct val="115000"/>
              </a:lnSpc>
              <a:spcBef>
                <a:spcPts val="700"/>
              </a:spcBef>
            </a:pPr>
            <a:r>
              <a:rPr sz="1600">
                <a:solidFill>
                  <a:srgbClr val="142236"/>
                </a:solidFill>
                <a:latin typeface="Aptos"/>
              </a:rPr>
              <a:t>•  AR + Futures: adds front-month BZ=F futures and basis spread</a:t>
            </a:r>
          </a:p>
          <a:p>
            <a:pPr algn="l">
              <a:lnSpc>
                <a:spcPct val="115000"/>
              </a:lnSpc>
              <a:spcBef>
                <a:spcPts val="700"/>
              </a:spcBef>
            </a:pPr>
            <a:r>
              <a:rPr sz="1600">
                <a:solidFill>
                  <a:srgbClr val="142236"/>
                </a:solidFill>
                <a:latin typeface="Aptos"/>
              </a:rPr>
              <a:t>•  Estimated on expanding window; predicted out-of-sample</a:t>
            </a:r>
          </a:p>
        </p:txBody>
      </p:sp>
      <p:sp>
        <p:nvSpPr>
          <p:cNvPr id="9" name="Rectangle 8"/>
          <p:cNvSpPr/>
          <p:nvPr/>
        </p:nvSpPr>
        <p:spPr>
          <a:xfrm>
            <a:off x="713232" y="4133087"/>
            <a:ext cx="10881360" cy="127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4297680"/>
            <a:ext cx="10607040" cy="502920"/>
          </a:xfrm>
          <a:prstGeom prst="rect">
            <a:avLst/>
          </a:prstGeom>
          <a:noFill/>
        </p:spPr>
        <p:txBody>
          <a:bodyPr wrap="square" anchor="ctr" lIns="27432" rIns="27432" tIns="18288" bIns="18288">
            <a:noAutofit/>
          </a:bodyPr>
          <a:lstStyle/>
          <a:p>
            <a:pPr algn="ctr"/>
            <a:r>
              <a:rPr sz="1900" b="1">
                <a:solidFill>
                  <a:srgbClr val="2D8B84"/>
                </a:solidFill>
                <a:latin typeface="Aptos"/>
              </a:rPr>
              <a:t>Finding: Neither rolling extension beats EIA. EIA remains the best available forecast in this comparison.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Interpretation</a:t>
            </a:r>
          </a:p>
        </p:txBody>
      </p:sp>
      <p:sp>
        <p:nvSpPr>
          <p:cNvPr id="3" name="TextBox 2"/>
          <p:cNvSpPr txBox="1"/>
          <p:nvPr/>
        </p:nvSpPr>
        <p:spPr>
          <a:xfrm>
            <a:off x="594360" y="804672"/>
            <a:ext cx="10515600" cy="274320"/>
          </a:xfrm>
          <a:prstGeom prst="rect">
            <a:avLst/>
          </a:prstGeom>
          <a:noFill/>
        </p:spPr>
        <p:txBody>
          <a:bodyPr wrap="square" anchor="ctr" lIns="27432" rIns="27432" tIns="18288" bIns="18288">
            <a:noAutofit/>
          </a:bodyPr>
          <a:lstStyle/>
          <a:p>
            <a:pPr algn="l"/>
            <a:r>
              <a:rPr sz="1300" b="0">
                <a:solidFill>
                  <a:srgbClr val="6C7682"/>
                </a:solidFill>
                <a:latin typeface="Aptos"/>
              </a:rPr>
              <a:t>Useful, but not unbiased</a:t>
            </a:r>
          </a:p>
        </p:txBody>
      </p:sp>
      <p:sp>
        <p:nvSpPr>
          <p:cNvPr id="4" name="Rectangle 3"/>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11</a:t>
            </a:r>
          </a:p>
        </p:txBody>
      </p:sp>
      <p:sp>
        <p:nvSpPr>
          <p:cNvPr id="6" name="Rectangle 5"/>
          <p:cNvSpPr/>
          <p:nvPr/>
        </p:nvSpPr>
        <p:spPr>
          <a:xfrm>
            <a:off x="6446520" y="1298448"/>
            <a:ext cx="12700" cy="384048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298448"/>
            <a:ext cx="5486400" cy="438912"/>
          </a:xfrm>
          <a:prstGeom prst="rect">
            <a:avLst/>
          </a:prstGeom>
          <a:noFill/>
        </p:spPr>
        <p:txBody>
          <a:bodyPr wrap="square" anchor="ctr" lIns="27432" rIns="27432" tIns="18288" bIns="18288">
            <a:noAutofit/>
          </a:bodyPr>
          <a:lstStyle/>
          <a:p>
            <a:pPr algn="l"/>
            <a:r>
              <a:rPr sz="2000" b="1">
                <a:solidFill>
                  <a:srgbClr val="2D8B84"/>
                </a:solidFill>
                <a:latin typeface="Aptos"/>
              </a:rPr>
              <a:t>Informative relative to naive benchmark</a:t>
            </a:r>
          </a:p>
        </p:txBody>
      </p:sp>
      <p:sp>
        <p:nvSpPr>
          <p:cNvPr id="8" name="TextBox 7"/>
          <p:cNvSpPr txBox="1"/>
          <p:nvPr/>
        </p:nvSpPr>
        <p:spPr>
          <a:xfrm>
            <a:off x="658368" y="1874519"/>
            <a:ext cx="5486400" cy="2011680"/>
          </a:xfrm>
          <a:prstGeom prst="rect">
            <a:avLst/>
          </a:prstGeom>
          <a:noFill/>
        </p:spPr>
        <p:txBody>
          <a:bodyPr wrap="square" anchor="t" lIns="36576" rIns="36576" tIns="36576" bIns="36576">
            <a:noAutofit/>
          </a:bodyPr>
          <a:lstStyle/>
          <a:p>
            <a:pPr algn="l">
              <a:lnSpc>
                <a:spcPct val="115000"/>
              </a:lnSpc>
            </a:pPr>
            <a:r>
              <a:rPr sz="1800">
                <a:solidFill>
                  <a:srgbClr val="142236"/>
                </a:solidFill>
                <a:latin typeface="Aptos"/>
              </a:rPr>
              <a:t>•  EIA beats random walk on RMSE and MAE at both horizons.</a:t>
            </a:r>
          </a:p>
          <a:p>
            <a:pPr algn="l">
              <a:lnSpc>
                <a:spcPct val="115000"/>
              </a:lnSpc>
              <a:spcBef>
                <a:spcPts val="700"/>
              </a:spcBef>
            </a:pPr>
            <a:r>
              <a:rPr sz="1800">
                <a:solidFill>
                  <a:srgbClr val="142236"/>
                </a:solidFill>
                <a:latin typeface="Aptos"/>
              </a:rPr>
              <a:t>•  Institutional forecasts add real informational content.</a:t>
            </a:r>
          </a:p>
          <a:p>
            <a:pPr algn="l">
              <a:lnSpc>
                <a:spcPct val="115000"/>
              </a:lnSpc>
              <a:spcBef>
                <a:spcPts val="700"/>
              </a:spcBef>
            </a:pPr>
            <a:r>
              <a:rPr sz="1800">
                <a:solidFill>
                  <a:srgbClr val="142236"/>
                </a:solidFill>
                <a:latin typeface="Aptos"/>
              </a:rPr>
              <a:t>•  Dismissing EIA forecasts entirely would be premature.</a:t>
            </a:r>
          </a:p>
        </p:txBody>
      </p:sp>
      <p:sp>
        <p:nvSpPr>
          <p:cNvPr id="9" name="TextBox 8"/>
          <p:cNvSpPr txBox="1"/>
          <p:nvPr/>
        </p:nvSpPr>
        <p:spPr>
          <a:xfrm>
            <a:off x="6748272" y="1298448"/>
            <a:ext cx="4846320" cy="438912"/>
          </a:xfrm>
          <a:prstGeom prst="rect">
            <a:avLst/>
          </a:prstGeom>
          <a:noFill/>
        </p:spPr>
        <p:txBody>
          <a:bodyPr wrap="square" anchor="ctr" lIns="27432" rIns="27432" tIns="18288" bIns="18288">
            <a:noAutofit/>
          </a:bodyPr>
          <a:lstStyle/>
          <a:p>
            <a:pPr algn="l"/>
            <a:r>
              <a:rPr sz="2000" b="1">
                <a:solidFill>
                  <a:srgbClr val="CE742B"/>
                </a:solidFill>
                <a:latin typeface="Aptos"/>
              </a:rPr>
              <a:t>Biased enough to matter for investment</a:t>
            </a:r>
          </a:p>
        </p:txBody>
      </p:sp>
      <p:sp>
        <p:nvSpPr>
          <p:cNvPr id="10" name="TextBox 9"/>
          <p:cNvSpPr txBox="1"/>
          <p:nvPr/>
        </p:nvSpPr>
        <p:spPr>
          <a:xfrm>
            <a:off x="6748272" y="1874519"/>
            <a:ext cx="4846320" cy="2011680"/>
          </a:xfrm>
          <a:prstGeom prst="rect">
            <a:avLst/>
          </a:prstGeom>
          <a:noFill/>
        </p:spPr>
        <p:txBody>
          <a:bodyPr wrap="square" anchor="t" lIns="36576" rIns="36576" tIns="36576" bIns="36576">
            <a:noAutofit/>
          </a:bodyPr>
          <a:lstStyle/>
          <a:p>
            <a:pPr algn="l">
              <a:lnSpc>
                <a:spcPct val="115000"/>
              </a:lnSpc>
            </a:pPr>
            <a:r>
              <a:rPr sz="1800">
                <a:solidFill>
                  <a:srgbClr val="142236"/>
                </a:solidFill>
                <a:latin typeface="Aptos"/>
              </a:rPr>
              <a:t>•  Consistent positive ME of $20–$27/bbl at 3- and 5-year horizons.</a:t>
            </a:r>
          </a:p>
          <a:p>
            <a:pPr algn="l">
              <a:lnSpc>
                <a:spcPct val="115000"/>
              </a:lnSpc>
              <a:spcBef>
                <a:spcPts val="700"/>
              </a:spcBef>
            </a:pPr>
            <a:r>
              <a:rPr sz="1800">
                <a:solidFill>
                  <a:srgbClr val="142236"/>
                </a:solidFill>
                <a:latin typeface="Aptos"/>
              </a:rPr>
              <a:t>•  Bias flows directly into revenue and valuation models.</a:t>
            </a:r>
          </a:p>
          <a:p>
            <a:pPr algn="l">
              <a:lnSpc>
                <a:spcPct val="115000"/>
              </a:lnSpc>
              <a:spcBef>
                <a:spcPts val="700"/>
              </a:spcBef>
            </a:pPr>
            <a:r>
              <a:rPr sz="1800">
                <a:solidFill>
                  <a:srgbClr val="142236"/>
                </a:solidFill>
                <a:latin typeface="Aptos"/>
              </a:rPr>
              <a:t>•  Mechanical use of EIA price decks risks overinvestment.</a:t>
            </a:r>
          </a:p>
        </p:txBody>
      </p:sp>
      <p:sp>
        <p:nvSpPr>
          <p:cNvPr id="11" name="Rectangle 10"/>
          <p:cNvSpPr/>
          <p:nvPr/>
        </p:nvSpPr>
        <p:spPr>
          <a:xfrm>
            <a:off x="658368" y="4370832"/>
            <a:ext cx="10881360" cy="127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535424"/>
            <a:ext cx="10881360" cy="502920"/>
          </a:xfrm>
          <a:prstGeom prst="rect">
            <a:avLst/>
          </a:prstGeom>
          <a:noFill/>
        </p:spPr>
        <p:txBody>
          <a:bodyPr wrap="square" anchor="ctr" lIns="27432" rIns="27432" tIns="18288" bIns="18288">
            <a:noAutofit/>
          </a:bodyPr>
          <a:lstStyle/>
          <a:p>
            <a:pPr algn="ctr"/>
            <a:r>
              <a:rPr sz="2000" b="1">
                <a:solidFill>
                  <a:srgbClr val="142236"/>
                </a:solidFill>
                <a:latin typeface="Aptos"/>
              </a:rPr>
              <a:t>Synthesis: EIA is informative but biased — use it as a starting point, not a final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Managerial Implications</a:t>
            </a:r>
          </a:p>
        </p:txBody>
      </p:sp>
      <p:sp>
        <p:nvSpPr>
          <p:cNvPr id="3" name="TextBox 2"/>
          <p:cNvSpPr txBox="1"/>
          <p:nvPr/>
        </p:nvSpPr>
        <p:spPr>
          <a:xfrm>
            <a:off x="594360" y="804672"/>
            <a:ext cx="10515600" cy="274320"/>
          </a:xfrm>
          <a:prstGeom prst="rect">
            <a:avLst/>
          </a:prstGeom>
          <a:noFill/>
        </p:spPr>
        <p:txBody>
          <a:bodyPr wrap="square" anchor="ctr" lIns="27432" rIns="27432" tIns="18288" bIns="18288">
            <a:noAutofit/>
          </a:bodyPr>
          <a:lstStyle/>
          <a:p>
            <a:pPr algn="l"/>
            <a:r>
              <a:rPr sz="1300" b="0">
                <a:solidFill>
                  <a:srgbClr val="6C7682"/>
                </a:solidFill>
                <a:latin typeface="Aptos"/>
              </a:rPr>
              <a:t>How upstream firms should use institutional price decks</a:t>
            </a:r>
          </a:p>
        </p:txBody>
      </p:sp>
      <p:sp>
        <p:nvSpPr>
          <p:cNvPr id="4" name="Rectangle 3"/>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12</a:t>
            </a:r>
          </a:p>
        </p:txBody>
      </p:sp>
      <p:sp>
        <p:nvSpPr>
          <p:cNvPr id="6" name="Rounded Rectangle 5"/>
          <p:cNvSpPr/>
          <p:nvPr/>
        </p:nvSpPr>
        <p:spPr>
          <a:xfrm>
            <a:off x="658368" y="1408176"/>
            <a:ext cx="475488" cy="475488"/>
          </a:xfrm>
          <a:prstGeom prst="round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300" b="1">
                <a:solidFill>
                  <a:srgbClr val="FFFFFF"/>
                </a:solidFill>
                <a:latin typeface="Aptos"/>
              </a:rPr>
              <a:t>01</a:t>
            </a:r>
          </a:p>
        </p:txBody>
      </p:sp>
      <p:sp>
        <p:nvSpPr>
          <p:cNvPr id="7" name="TextBox 6"/>
          <p:cNvSpPr txBox="1"/>
          <p:nvPr/>
        </p:nvSpPr>
        <p:spPr>
          <a:xfrm>
            <a:off x="1316736" y="1353312"/>
            <a:ext cx="10241280" cy="402336"/>
          </a:xfrm>
          <a:prstGeom prst="rect">
            <a:avLst/>
          </a:prstGeom>
          <a:noFill/>
        </p:spPr>
        <p:txBody>
          <a:bodyPr wrap="square" anchor="ctr" lIns="27432" rIns="27432" tIns="18288" bIns="18288">
            <a:noAutofit/>
          </a:bodyPr>
          <a:lstStyle/>
          <a:p>
            <a:pPr algn="l"/>
            <a:r>
              <a:rPr sz="1900" b="1">
                <a:solidFill>
                  <a:srgbClr val="142236"/>
                </a:solidFill>
                <a:latin typeface="Aptos"/>
              </a:rPr>
              <a:t>Use EIA as a baseline, not a final answer</a:t>
            </a:r>
          </a:p>
        </p:txBody>
      </p:sp>
      <p:sp>
        <p:nvSpPr>
          <p:cNvPr id="8" name="TextBox 7"/>
          <p:cNvSpPr txBox="1"/>
          <p:nvPr/>
        </p:nvSpPr>
        <p:spPr>
          <a:xfrm>
            <a:off x="1316736" y="1755648"/>
            <a:ext cx="10241280" cy="347472"/>
          </a:xfrm>
          <a:prstGeom prst="rect">
            <a:avLst/>
          </a:prstGeom>
          <a:noFill/>
        </p:spPr>
        <p:txBody>
          <a:bodyPr wrap="square" anchor="ctr" lIns="27432" rIns="27432" tIns="18288" bIns="18288">
            <a:noAutofit/>
          </a:bodyPr>
          <a:lstStyle/>
          <a:p>
            <a:pPr algn="l"/>
            <a:r>
              <a:rPr sz="1450" b="0">
                <a:solidFill>
                  <a:srgbClr val="6C7682"/>
                </a:solidFill>
                <a:latin typeface="Aptos"/>
              </a:rPr>
              <a:t>EIA beats the random walk — discarding it entirely would discard genuine information.</a:t>
            </a:r>
          </a:p>
        </p:txBody>
      </p:sp>
      <p:sp>
        <p:nvSpPr>
          <p:cNvPr id="9" name="Rectangle 8"/>
          <p:cNvSpPr/>
          <p:nvPr/>
        </p:nvSpPr>
        <p:spPr>
          <a:xfrm>
            <a:off x="658368" y="2194560"/>
            <a:ext cx="10881360" cy="127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523744"/>
            <a:ext cx="475488" cy="475488"/>
          </a:xfrm>
          <a:prstGeom prst="round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300" b="1">
                <a:solidFill>
                  <a:srgbClr val="FFFFFF"/>
                </a:solidFill>
                <a:latin typeface="Aptos"/>
              </a:rPr>
              <a:t>02</a:t>
            </a:r>
          </a:p>
        </p:txBody>
      </p:sp>
      <p:sp>
        <p:nvSpPr>
          <p:cNvPr id="11" name="TextBox 10"/>
          <p:cNvSpPr txBox="1"/>
          <p:nvPr/>
        </p:nvSpPr>
        <p:spPr>
          <a:xfrm>
            <a:off x="1316736" y="2468880"/>
            <a:ext cx="10241280" cy="402336"/>
          </a:xfrm>
          <a:prstGeom prst="rect">
            <a:avLst/>
          </a:prstGeom>
          <a:noFill/>
        </p:spPr>
        <p:txBody>
          <a:bodyPr wrap="square" anchor="ctr" lIns="27432" rIns="27432" tIns="18288" bIns="18288">
            <a:noAutofit/>
          </a:bodyPr>
          <a:lstStyle/>
          <a:p>
            <a:pPr algn="l"/>
            <a:r>
              <a:rPr sz="1900" b="1">
                <a:solidFill>
                  <a:srgbClr val="142236"/>
                </a:solidFill>
                <a:latin typeface="Aptos"/>
              </a:rPr>
              <a:t>Apply a bias adjustment or conservative haircut</a:t>
            </a:r>
          </a:p>
        </p:txBody>
      </p:sp>
      <p:sp>
        <p:nvSpPr>
          <p:cNvPr id="12" name="TextBox 11"/>
          <p:cNvSpPr txBox="1"/>
          <p:nvPr/>
        </p:nvSpPr>
        <p:spPr>
          <a:xfrm>
            <a:off x="1316736" y="2871216"/>
            <a:ext cx="10241280" cy="347472"/>
          </a:xfrm>
          <a:prstGeom prst="rect">
            <a:avLst/>
          </a:prstGeom>
          <a:noFill/>
        </p:spPr>
        <p:txBody>
          <a:bodyPr wrap="square" anchor="ctr" lIns="27432" rIns="27432" tIns="18288" bIns="18288">
            <a:noAutofit/>
          </a:bodyPr>
          <a:lstStyle/>
          <a:p>
            <a:pPr algn="l"/>
            <a:r>
              <a:rPr sz="1450" b="0">
                <a:solidFill>
                  <a:srgbClr val="6C7682"/>
                </a:solidFill>
                <a:latin typeface="Aptos"/>
              </a:rPr>
              <a:t>Historical ME: –$20/bbl at 3-year; –$27/bbl at 5-year. Run sensitivities around this.</a:t>
            </a:r>
          </a:p>
        </p:txBody>
      </p:sp>
      <p:sp>
        <p:nvSpPr>
          <p:cNvPr id="13" name="Rectangle 12"/>
          <p:cNvSpPr/>
          <p:nvPr/>
        </p:nvSpPr>
        <p:spPr>
          <a:xfrm>
            <a:off x="658368" y="3310128"/>
            <a:ext cx="10881360" cy="127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8368" y="3639312"/>
            <a:ext cx="475488" cy="475488"/>
          </a:xfrm>
          <a:prstGeom prst="roundRect">
            <a:avLst/>
          </a:prstGeom>
          <a:solidFill>
            <a:srgbClr val="CE74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300" b="1">
                <a:solidFill>
                  <a:srgbClr val="FFFFFF"/>
                </a:solidFill>
                <a:latin typeface="Aptos"/>
              </a:rPr>
              <a:t>03</a:t>
            </a:r>
          </a:p>
        </p:txBody>
      </p:sp>
      <p:sp>
        <p:nvSpPr>
          <p:cNvPr id="15" name="TextBox 14"/>
          <p:cNvSpPr txBox="1"/>
          <p:nvPr/>
        </p:nvSpPr>
        <p:spPr>
          <a:xfrm>
            <a:off x="1316736" y="3584448"/>
            <a:ext cx="10241280" cy="402336"/>
          </a:xfrm>
          <a:prstGeom prst="rect">
            <a:avLst/>
          </a:prstGeom>
          <a:noFill/>
        </p:spPr>
        <p:txBody>
          <a:bodyPr wrap="square" anchor="ctr" lIns="27432" rIns="27432" tIns="18288" bIns="18288">
            <a:noAutofit/>
          </a:bodyPr>
          <a:lstStyle/>
          <a:p>
            <a:pPr algn="l"/>
            <a:r>
              <a:rPr sz="1900" b="1">
                <a:solidFill>
                  <a:srgbClr val="142236"/>
                </a:solidFill>
                <a:latin typeface="Aptos"/>
              </a:rPr>
              <a:t>Run downside price scenarios before final investment decisions</a:t>
            </a:r>
          </a:p>
        </p:txBody>
      </p:sp>
      <p:sp>
        <p:nvSpPr>
          <p:cNvPr id="16" name="TextBox 15"/>
          <p:cNvSpPr txBox="1"/>
          <p:nvPr/>
        </p:nvSpPr>
        <p:spPr>
          <a:xfrm>
            <a:off x="1316736" y="3986784"/>
            <a:ext cx="10241280" cy="347472"/>
          </a:xfrm>
          <a:prstGeom prst="rect">
            <a:avLst/>
          </a:prstGeom>
          <a:noFill/>
        </p:spPr>
        <p:txBody>
          <a:bodyPr wrap="square" anchor="ctr" lIns="27432" rIns="27432" tIns="18288" bIns="18288">
            <a:noAutofit/>
          </a:bodyPr>
          <a:lstStyle/>
          <a:p>
            <a:pPr algn="l"/>
            <a:r>
              <a:rPr sz="1450" b="0">
                <a:solidFill>
                  <a:srgbClr val="6C7682"/>
                </a:solidFill>
                <a:latin typeface="Aptos"/>
              </a:rPr>
              <a:t>Stress-test projects against plausible realized price paths, not smooth forecast paths.</a:t>
            </a:r>
          </a:p>
        </p:txBody>
      </p:sp>
      <p:sp>
        <p:nvSpPr>
          <p:cNvPr id="17" name="Rectangle 16"/>
          <p:cNvSpPr/>
          <p:nvPr/>
        </p:nvSpPr>
        <p:spPr>
          <a:xfrm>
            <a:off x="658368" y="4425696"/>
            <a:ext cx="10881360" cy="1270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4754880"/>
            <a:ext cx="475488" cy="475488"/>
          </a:xfrm>
          <a:prstGeom prst="roundRect">
            <a:avLst/>
          </a:prstGeom>
          <a:solidFill>
            <a:srgbClr val="CE74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300" b="1">
                <a:solidFill>
                  <a:srgbClr val="FFFFFF"/>
                </a:solidFill>
                <a:latin typeface="Aptos"/>
              </a:rPr>
              <a:t>04</a:t>
            </a:r>
          </a:p>
        </p:txBody>
      </p:sp>
      <p:sp>
        <p:nvSpPr>
          <p:cNvPr id="19" name="TextBox 18"/>
          <p:cNvSpPr txBox="1"/>
          <p:nvPr/>
        </p:nvSpPr>
        <p:spPr>
          <a:xfrm>
            <a:off x="1316736" y="4700016"/>
            <a:ext cx="10241280" cy="402336"/>
          </a:xfrm>
          <a:prstGeom prst="rect">
            <a:avLst/>
          </a:prstGeom>
          <a:noFill/>
        </p:spPr>
        <p:txBody>
          <a:bodyPr wrap="square" anchor="ctr" lIns="27432" rIns="27432" tIns="18288" bIns="18288">
            <a:noAutofit/>
          </a:bodyPr>
          <a:lstStyle/>
          <a:p>
            <a:pPr algn="l"/>
            <a:r>
              <a:rPr sz="1900" b="1">
                <a:solidFill>
                  <a:srgbClr val="142236"/>
                </a:solidFill>
                <a:latin typeface="Aptos"/>
              </a:rPr>
              <a:t>Treat long-horizon price uncertainty as a capital allocation risk</a:t>
            </a:r>
          </a:p>
        </p:txBody>
      </p:sp>
      <p:sp>
        <p:nvSpPr>
          <p:cNvPr id="20" name="TextBox 19"/>
          <p:cNvSpPr txBox="1"/>
          <p:nvPr/>
        </p:nvSpPr>
        <p:spPr>
          <a:xfrm>
            <a:off x="1316736" y="5102352"/>
            <a:ext cx="10241280" cy="347472"/>
          </a:xfrm>
          <a:prstGeom prst="rect">
            <a:avLst/>
          </a:prstGeom>
          <a:noFill/>
        </p:spPr>
        <p:txBody>
          <a:bodyPr wrap="square" anchor="ctr" lIns="27432" rIns="27432" tIns="18288" bIns="18288">
            <a:noAutofit/>
          </a:bodyPr>
          <a:lstStyle/>
          <a:p>
            <a:pPr algn="l"/>
            <a:r>
              <a:rPr sz="1450" b="0">
                <a:solidFill>
                  <a:srgbClr val="6C7682"/>
                </a:solidFill>
                <a:latin typeface="Aptos"/>
              </a:rPr>
              <a:t>Forecast uncertainty should appear in project risk registers and inform hurdle-rate calibration.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Limitations and Next Steps</a:t>
            </a:r>
          </a:p>
        </p:txBody>
      </p:sp>
      <p:sp>
        <p:nvSpPr>
          <p:cNvPr id="3" name="TextBox 2"/>
          <p:cNvSpPr txBox="1"/>
          <p:nvPr/>
        </p:nvSpPr>
        <p:spPr>
          <a:xfrm>
            <a:off x="594360" y="804672"/>
            <a:ext cx="10515600" cy="274320"/>
          </a:xfrm>
          <a:prstGeom prst="rect">
            <a:avLst/>
          </a:prstGeom>
          <a:noFill/>
        </p:spPr>
        <p:txBody>
          <a:bodyPr wrap="square" anchor="ctr" lIns="27432" rIns="27432" tIns="18288" bIns="18288">
            <a:noAutofit/>
          </a:bodyPr>
          <a:lstStyle/>
          <a:p>
            <a:pPr algn="l"/>
            <a:r>
              <a:rPr sz="1300" b="0">
                <a:solidFill>
                  <a:srgbClr val="6C7682"/>
                </a:solidFill>
                <a:latin typeface="Aptos"/>
              </a:rPr>
              <a:t>Scope boundaries and natural extensions</a:t>
            </a:r>
          </a:p>
        </p:txBody>
      </p:sp>
      <p:sp>
        <p:nvSpPr>
          <p:cNvPr id="4" name="Rectangle 3"/>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13</a:t>
            </a:r>
          </a:p>
        </p:txBody>
      </p:sp>
      <p:sp>
        <p:nvSpPr>
          <p:cNvPr id="6" name="Rectangle 5"/>
          <p:cNvSpPr/>
          <p:nvPr/>
        </p:nvSpPr>
        <p:spPr>
          <a:xfrm>
            <a:off x="6446520" y="1298448"/>
            <a:ext cx="12700" cy="4709160"/>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298448"/>
            <a:ext cx="5486400" cy="411480"/>
          </a:xfrm>
          <a:prstGeom prst="rect">
            <a:avLst/>
          </a:prstGeom>
          <a:noFill/>
        </p:spPr>
        <p:txBody>
          <a:bodyPr wrap="square" anchor="ctr" lIns="27432" rIns="27432" tIns="18288" bIns="18288">
            <a:noAutofit/>
          </a:bodyPr>
          <a:lstStyle/>
          <a:p>
            <a:pPr algn="l"/>
            <a:r>
              <a:rPr sz="2000" b="1">
                <a:solidFill>
                  <a:srgbClr val="142236"/>
                </a:solidFill>
                <a:latin typeface="Aptos"/>
              </a:rPr>
              <a:t>Limitations</a:t>
            </a:r>
          </a:p>
        </p:txBody>
      </p:sp>
      <p:sp>
        <p:nvSpPr>
          <p:cNvPr id="8" name="TextBox 7"/>
          <p:cNvSpPr txBox="1"/>
          <p:nvPr/>
        </p:nvSpPr>
        <p:spPr>
          <a:xfrm>
            <a:off x="658368" y="1847088"/>
            <a:ext cx="5486400" cy="3246120"/>
          </a:xfrm>
          <a:prstGeom prst="rect">
            <a:avLst/>
          </a:prstGeom>
          <a:noFill/>
        </p:spPr>
        <p:txBody>
          <a:bodyPr wrap="square" anchor="t" lIns="36576" rIns="36576" tIns="36576" bIns="36576">
            <a:noAutofit/>
          </a:bodyPr>
          <a:lstStyle/>
          <a:p>
            <a:pPr algn="l">
              <a:lnSpc>
                <a:spcPct val="115000"/>
              </a:lnSpc>
            </a:pPr>
            <a:r>
              <a:rPr sz="1700">
                <a:solidFill>
                  <a:srgbClr val="142236"/>
                </a:solidFill>
                <a:latin typeface="Aptos"/>
              </a:rPr>
              <a:t>•  Main analysis covers EIA; IEA and other institutions not compared.</a:t>
            </a:r>
          </a:p>
          <a:p>
            <a:pPr algn="l">
              <a:lnSpc>
                <a:spcPct val="115000"/>
              </a:lnSpc>
              <a:spcBef>
                <a:spcPts val="700"/>
              </a:spcBef>
            </a:pPr>
            <a:r>
              <a:rPr sz="1700">
                <a:solidFill>
                  <a:srgbClr val="142236"/>
                </a:solidFill>
                <a:latin typeface="Aptos"/>
              </a:rPr>
              <a:t>•  World Bank uses Crude oil (avg), not Brent spot — different contract.</a:t>
            </a:r>
          </a:p>
          <a:p>
            <a:pPr algn="l">
              <a:lnSpc>
                <a:spcPct val="115000"/>
              </a:lnSpc>
              <a:spcBef>
                <a:spcPts val="700"/>
              </a:spcBef>
            </a:pPr>
            <a:r>
              <a:rPr sz="1700">
                <a:solidFill>
                  <a:srgbClr val="142236"/>
                </a:solidFill>
                <a:latin typeface="Aptos"/>
              </a:rPr>
              <a:t>•  Futures extension uses front-month BZ=F, not a long-dated forward curve.</a:t>
            </a:r>
          </a:p>
          <a:p>
            <a:pPr algn="l">
              <a:lnSpc>
                <a:spcPct val="115000"/>
              </a:lnSpc>
              <a:spcBef>
                <a:spcPts val="700"/>
              </a:spcBef>
            </a:pPr>
            <a:r>
              <a:rPr sz="1700">
                <a:solidFill>
                  <a:srgbClr val="142236"/>
                </a:solidFill>
                <a:latin typeface="Aptos"/>
              </a:rPr>
              <a:t>•  Long-horizon realized sample is naturally limited (~10–11 outcomes).</a:t>
            </a:r>
          </a:p>
        </p:txBody>
      </p:sp>
      <p:sp>
        <p:nvSpPr>
          <p:cNvPr id="9" name="TextBox 8"/>
          <p:cNvSpPr txBox="1"/>
          <p:nvPr/>
        </p:nvSpPr>
        <p:spPr>
          <a:xfrm>
            <a:off x="6748272" y="1298448"/>
            <a:ext cx="5120640" cy="411480"/>
          </a:xfrm>
          <a:prstGeom prst="rect">
            <a:avLst/>
          </a:prstGeom>
          <a:noFill/>
        </p:spPr>
        <p:txBody>
          <a:bodyPr wrap="square" anchor="ctr" lIns="27432" rIns="27432" tIns="18288" bIns="18288">
            <a:noAutofit/>
          </a:bodyPr>
          <a:lstStyle/>
          <a:p>
            <a:pPr algn="l"/>
            <a:r>
              <a:rPr sz="2000" b="1">
                <a:solidFill>
                  <a:srgbClr val="142236"/>
                </a:solidFill>
                <a:latin typeface="Aptos"/>
              </a:rPr>
              <a:t>Next Steps</a:t>
            </a:r>
          </a:p>
        </p:txBody>
      </p:sp>
      <p:sp>
        <p:nvSpPr>
          <p:cNvPr id="10" name="TextBox 9"/>
          <p:cNvSpPr txBox="1"/>
          <p:nvPr/>
        </p:nvSpPr>
        <p:spPr>
          <a:xfrm>
            <a:off x="6748272" y="1847088"/>
            <a:ext cx="5120640" cy="3246120"/>
          </a:xfrm>
          <a:prstGeom prst="rect">
            <a:avLst/>
          </a:prstGeom>
          <a:noFill/>
        </p:spPr>
        <p:txBody>
          <a:bodyPr wrap="square" anchor="t" lIns="36576" rIns="36576" tIns="36576" bIns="36576">
            <a:noAutofit/>
          </a:bodyPr>
          <a:lstStyle/>
          <a:p>
            <a:pPr algn="l">
              <a:lnSpc>
                <a:spcPct val="115000"/>
              </a:lnSpc>
            </a:pPr>
            <a:r>
              <a:rPr sz="1700">
                <a:solidFill>
                  <a:srgbClr val="142236"/>
                </a:solidFill>
                <a:latin typeface="Aptos"/>
              </a:rPr>
              <a:t>•  Add IEA or World Bank as multi-institution robustness check.</a:t>
            </a:r>
          </a:p>
          <a:p>
            <a:pPr algn="l">
              <a:lnSpc>
                <a:spcPct val="115000"/>
              </a:lnSpc>
              <a:spcBef>
                <a:spcPts val="700"/>
              </a:spcBef>
            </a:pPr>
            <a:r>
              <a:rPr sz="1700">
                <a:solidFill>
                  <a:srgbClr val="142236"/>
                </a:solidFill>
                <a:latin typeface="Aptos"/>
              </a:rPr>
              <a:t>•  Test bias-corrected EIA: apply historical ME adjustment to future vintages.</a:t>
            </a:r>
          </a:p>
          <a:p>
            <a:pPr algn="l">
              <a:lnSpc>
                <a:spcPct val="115000"/>
              </a:lnSpc>
              <a:spcBef>
                <a:spcPts val="700"/>
              </a:spcBef>
            </a:pPr>
            <a:r>
              <a:rPr sz="1700">
                <a:solidFill>
                  <a:srgbClr val="142236"/>
                </a:solidFill>
                <a:latin typeface="Aptos"/>
              </a:rPr>
              <a:t>•  Use long-dated Brent futures curve if reliable historical data are available.</a:t>
            </a:r>
          </a:p>
          <a:p>
            <a:pPr algn="l">
              <a:lnSpc>
                <a:spcPct val="115000"/>
              </a:lnSpc>
              <a:spcBef>
                <a:spcPts val="700"/>
              </a:spcBef>
            </a:pPr>
            <a:r>
              <a:rPr sz="1700">
                <a:solidFill>
                  <a:srgbClr val="142236"/>
                </a:solidFill>
                <a:latin typeface="Aptos"/>
              </a:rPr>
              <a:t>•  Extend panel as new EIA AEO vintages are published annually.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Conclusion</a:t>
            </a:r>
          </a:p>
        </p:txBody>
      </p:sp>
      <p:sp>
        <p:nvSpPr>
          <p:cNvPr id="3" name="Rectangle 2"/>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14</a:t>
            </a:r>
          </a:p>
        </p:txBody>
      </p:sp>
      <p:sp>
        <p:nvSpPr>
          <p:cNvPr id="5" name="Rounded Rectangle 4"/>
          <p:cNvSpPr/>
          <p:nvPr/>
        </p:nvSpPr>
        <p:spPr>
          <a:xfrm>
            <a:off x="658368" y="1325880"/>
            <a:ext cx="10881360" cy="1481328"/>
          </a:xfrm>
          <a:prstGeom prst="roundRect">
            <a:avLst/>
          </a:prstGeom>
          <a:solidFill>
            <a:srgbClr val="E6F2F1"/>
          </a:solidFill>
          <a:ln w="25400">
            <a:solidFill>
              <a:srgbClr val="2D8B84"/>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64592" bIns="164592">
            <a:noAutofit/>
          </a:bodyPr>
          <a:lstStyle/>
          <a:p>
            <a:pPr algn="ctr">
              <a:lnSpc>
                <a:spcPct val="130000"/>
              </a:lnSpc>
            </a:pPr>
            <a:r>
              <a:rPr sz="2100" b="1">
                <a:solidFill>
                  <a:srgbClr val="142236"/>
                </a:solidFill>
                <a:latin typeface="Aptos"/>
              </a:rPr>
              <a:t>EIA long-term Brent forecasts are informative, but optimistically biased; upstream firms should adjust them before using them in capital budgeting.</a:t>
            </a:r>
          </a:p>
        </p:txBody>
      </p:sp>
      <p:sp>
        <p:nvSpPr>
          <p:cNvPr id="6" name="Rounded Rectangle 5"/>
          <p:cNvSpPr/>
          <p:nvPr/>
        </p:nvSpPr>
        <p:spPr>
          <a:xfrm>
            <a:off x="658368" y="3090672"/>
            <a:ext cx="3429000" cy="1298448"/>
          </a:xfrm>
          <a:prstGeom prst="roundRect">
            <a:avLst/>
          </a:prstGeom>
          <a:solidFill>
            <a:srgbClr val="FFFFFF"/>
          </a:solidFill>
          <a:ln w="25400">
            <a:solidFill>
              <a:srgbClr val="2D8B84"/>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noAutofit/>
          </a:bodyPr>
          <a:lstStyle/>
          <a:p>
            <a:pPr algn="ctr">
              <a:lnSpc>
                <a:spcPct val="115000"/>
              </a:lnSpc>
            </a:pPr>
            <a:r>
              <a:rPr sz="1900" b="1">
                <a:solidFill>
                  <a:srgbClr val="2D8B84"/>
                </a:solidFill>
                <a:latin typeface="Aptos"/>
              </a:rPr>
              <a:t>Informative</a:t>
            </a:r>
          </a:p>
          <a:p>
            <a:pPr algn="ctr">
              <a:lnSpc>
                <a:spcPct val="110000"/>
              </a:lnSpc>
              <a:spcBef>
                <a:spcPts val="500"/>
              </a:spcBef>
            </a:pPr>
            <a:r>
              <a:rPr sz="1400" b="0">
                <a:solidFill>
                  <a:srgbClr val="142236"/>
                </a:solidFill>
                <a:latin typeface="Aptos"/>
              </a:rPr>
              <a:t>EIA beats random walk — use it as a baseline</a:t>
            </a:r>
          </a:p>
        </p:txBody>
      </p:sp>
      <p:sp>
        <p:nvSpPr>
          <p:cNvPr id="7" name="Rounded Rectangle 6"/>
          <p:cNvSpPr/>
          <p:nvPr/>
        </p:nvSpPr>
        <p:spPr>
          <a:xfrm>
            <a:off x="4361688" y="3090672"/>
            <a:ext cx="3429000" cy="1298448"/>
          </a:xfrm>
          <a:prstGeom prst="roundRect">
            <a:avLst/>
          </a:prstGeom>
          <a:solidFill>
            <a:srgbClr val="FFFFFF"/>
          </a:solidFill>
          <a:ln w="25400">
            <a:solidFill>
              <a:srgbClr val="CE742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noAutofit/>
          </a:bodyPr>
          <a:lstStyle/>
          <a:p>
            <a:pPr algn="ctr">
              <a:lnSpc>
                <a:spcPct val="115000"/>
              </a:lnSpc>
            </a:pPr>
            <a:r>
              <a:rPr sz="1900" b="1">
                <a:solidFill>
                  <a:srgbClr val="CE742B"/>
                </a:solidFill>
                <a:latin typeface="Aptos"/>
              </a:rPr>
              <a:t>Biased</a:t>
            </a:r>
          </a:p>
          <a:p>
            <a:pPr algn="ctr">
              <a:lnSpc>
                <a:spcPct val="110000"/>
              </a:lnSpc>
              <a:spcBef>
                <a:spcPts val="500"/>
              </a:spcBef>
            </a:pPr>
            <a:r>
              <a:rPr sz="1400" b="0">
                <a:solidFill>
                  <a:srgbClr val="142236"/>
                </a:solidFill>
                <a:latin typeface="Aptos"/>
              </a:rPr>
              <a:t>ME of +$20–$27/bbl — apply a haircut</a:t>
            </a:r>
          </a:p>
        </p:txBody>
      </p:sp>
      <p:sp>
        <p:nvSpPr>
          <p:cNvPr id="8" name="Rounded Rectangle 7"/>
          <p:cNvSpPr/>
          <p:nvPr/>
        </p:nvSpPr>
        <p:spPr>
          <a:xfrm>
            <a:off x="8065008" y="3090672"/>
            <a:ext cx="3429000" cy="1298448"/>
          </a:xfrm>
          <a:prstGeom prst="roundRect">
            <a:avLst/>
          </a:prstGeom>
          <a:solidFill>
            <a:srgbClr val="FFFFFF"/>
          </a:solidFill>
          <a:ln w="25400">
            <a:solidFill>
              <a:srgbClr val="25639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noAutofit/>
          </a:bodyPr>
          <a:lstStyle/>
          <a:p>
            <a:pPr algn="ctr">
              <a:lnSpc>
                <a:spcPct val="115000"/>
              </a:lnSpc>
            </a:pPr>
            <a:r>
              <a:rPr sz="1900" b="1">
                <a:solidFill>
                  <a:srgbClr val="256391"/>
                </a:solidFill>
                <a:latin typeface="Aptos"/>
              </a:rPr>
              <a:t>Actionable</a:t>
            </a:r>
          </a:p>
          <a:p>
            <a:pPr algn="ctr">
              <a:lnSpc>
                <a:spcPct val="110000"/>
              </a:lnSpc>
              <a:spcBef>
                <a:spcPts val="500"/>
              </a:spcBef>
            </a:pPr>
            <a:r>
              <a:rPr sz="1400" b="0">
                <a:solidFill>
                  <a:srgbClr val="142236"/>
                </a:solidFill>
                <a:latin typeface="Aptos"/>
              </a:rPr>
              <a:t>Adjust before DCF — run downside scenarios</a:t>
            </a:r>
          </a:p>
        </p:txBody>
      </p:sp>
      <p:sp>
        <p:nvSpPr>
          <p:cNvPr id="9" name="TextBox 8"/>
          <p:cNvSpPr txBox="1"/>
          <p:nvPr/>
        </p:nvSpPr>
        <p:spPr>
          <a:xfrm>
            <a:off x="658368" y="4590288"/>
            <a:ext cx="10881360" cy="475488"/>
          </a:xfrm>
          <a:prstGeom prst="rect">
            <a:avLst/>
          </a:prstGeom>
          <a:noFill/>
        </p:spPr>
        <p:txBody>
          <a:bodyPr wrap="square" anchor="ctr" lIns="27432" rIns="27432" tIns="18288" bIns="18288">
            <a:noAutofit/>
          </a:bodyPr>
          <a:lstStyle/>
          <a:p>
            <a:pPr algn="ctr"/>
            <a:r>
              <a:rPr sz="1900" b="1">
                <a:solidFill>
                  <a:srgbClr val="2D8B84"/>
                </a:solidFill>
                <a:latin typeface="Aptos"/>
              </a:rPr>
              <a:t>Use institutional forecasts as starting points, not unadjusted truth.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Appendix A: Full Benchmark Metrics</a:t>
            </a:r>
          </a:p>
        </p:txBody>
      </p:sp>
      <p:sp>
        <p:nvSpPr>
          <p:cNvPr id="3" name="Rectangle 2"/>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15</a:t>
            </a:r>
          </a:p>
        </p:txBody>
      </p:sp>
      <p:graphicFrame>
        <p:nvGraphicFramePr>
          <p:cNvPr id="5" name="Table 4"/>
          <p:cNvGraphicFramePr>
            <a:graphicFrameLocks noGrp="1"/>
          </p:cNvGraphicFramePr>
          <p:nvPr/>
        </p:nvGraphicFramePr>
        <p:xfrm>
          <a:off x="603504" y="1417320"/>
          <a:ext cx="8961120" cy="3108960"/>
        </p:xfrm>
        <a:graphic>
          <a:graphicData uri="http://schemas.openxmlformats.org/drawingml/2006/table">
            <a:tbl>
              <a:tblPr firstRow="1" bandRow="1">
                <a:tableStyleId>{5C22544A-7EE6-4342-B048-85BDC9FD1C3A}</a:tableStyleId>
              </a:tblPr>
              <a:tblGrid>
                <a:gridCol w="2011680"/>
                <a:gridCol w="1143000"/>
                <a:gridCol w="685800"/>
                <a:gridCol w="1325880"/>
                <a:gridCol w="1325880"/>
                <a:gridCol w="1325880"/>
                <a:gridCol w="1143000"/>
              </a:tblGrid>
              <a:tr h="621792">
                <a:tc>
                  <a:txBody>
                    <a:bodyPr wrap="square"/>
                    <a:lstStyle/>
                    <a:p>
                      <a:pPr algn="l">
                        <a:lnSpc>
                          <a:spcPct val="110000"/>
                        </a:lnSpc>
                      </a:pPr>
                      <a:r>
                        <a:rPr sz="1350" b="1">
                          <a:solidFill>
                            <a:srgbClr val="FFFFFF"/>
                          </a:solidFill>
                          <a:latin typeface="Aptos"/>
                        </a:rPr>
                        <a:t>Model</a:t>
                      </a:r>
                    </a:p>
                  </a:txBody>
                  <a:tcPr marL="91440" marR="73152" marT="64008" marB="64008" anchor="ctr">
                    <a:solidFill>
                      <a:srgbClr val="142236"/>
                    </a:solidFill>
                  </a:tcPr>
                </a:tc>
                <a:tc>
                  <a:txBody>
                    <a:bodyPr wrap="square"/>
                    <a:lstStyle/>
                    <a:p>
                      <a:pPr algn="ctr">
                        <a:lnSpc>
                          <a:spcPct val="110000"/>
                        </a:lnSpc>
                      </a:pPr>
                      <a:r>
                        <a:rPr sz="1350" b="1">
                          <a:solidFill>
                            <a:srgbClr val="FFFFFF"/>
                          </a:solidFill>
                          <a:latin typeface="Aptos"/>
                        </a:rPr>
                        <a:t>Horizon</a:t>
                      </a:r>
                    </a:p>
                  </a:txBody>
                  <a:tcPr marL="91440" marR="73152" marT="64008" marB="64008" anchor="ctr">
                    <a:solidFill>
                      <a:srgbClr val="142236"/>
                    </a:solidFill>
                  </a:tcPr>
                </a:tc>
                <a:tc>
                  <a:txBody>
                    <a:bodyPr wrap="square"/>
                    <a:lstStyle/>
                    <a:p>
                      <a:pPr algn="ctr">
                        <a:lnSpc>
                          <a:spcPct val="110000"/>
                        </a:lnSpc>
                      </a:pPr>
                      <a:r>
                        <a:rPr sz="1350" b="1">
                          <a:solidFill>
                            <a:srgbClr val="FFFFFF"/>
                          </a:solidFill>
                          <a:latin typeface="Aptos"/>
                        </a:rPr>
                        <a:t>N</a:t>
                      </a:r>
                    </a:p>
                  </a:txBody>
                  <a:tcPr marL="91440" marR="73152" marT="64008" marB="64008" anchor="ctr">
                    <a:solidFill>
                      <a:srgbClr val="142236"/>
                    </a:solidFill>
                  </a:tcPr>
                </a:tc>
                <a:tc>
                  <a:txBody>
                    <a:bodyPr wrap="square"/>
                    <a:lstStyle/>
                    <a:p>
                      <a:pPr algn="ctr">
                        <a:lnSpc>
                          <a:spcPct val="110000"/>
                        </a:lnSpc>
                      </a:pPr>
                      <a:r>
                        <a:rPr sz="1350" b="1">
                          <a:solidFill>
                            <a:srgbClr val="FFFFFF"/>
                          </a:solidFill>
                          <a:latin typeface="Aptos"/>
                        </a:rPr>
                        <a:t>ME</a:t>
                      </a:r>
                    </a:p>
                  </a:txBody>
                  <a:tcPr marL="91440" marR="73152" marT="64008" marB="64008" anchor="ctr">
                    <a:solidFill>
                      <a:srgbClr val="142236"/>
                    </a:solidFill>
                  </a:tcPr>
                </a:tc>
                <a:tc>
                  <a:txBody>
                    <a:bodyPr wrap="square"/>
                    <a:lstStyle/>
                    <a:p>
                      <a:pPr algn="ctr">
                        <a:lnSpc>
                          <a:spcPct val="110000"/>
                        </a:lnSpc>
                      </a:pPr>
                      <a:r>
                        <a:rPr sz="1350" b="1">
                          <a:solidFill>
                            <a:srgbClr val="FFFFFF"/>
                          </a:solidFill>
                          <a:latin typeface="Aptos"/>
                        </a:rPr>
                        <a:t>MAE</a:t>
                      </a:r>
                    </a:p>
                  </a:txBody>
                  <a:tcPr marL="91440" marR="73152" marT="64008" marB="64008" anchor="ctr">
                    <a:solidFill>
                      <a:srgbClr val="142236"/>
                    </a:solidFill>
                  </a:tcPr>
                </a:tc>
                <a:tc>
                  <a:txBody>
                    <a:bodyPr wrap="square"/>
                    <a:lstStyle/>
                    <a:p>
                      <a:pPr algn="ctr">
                        <a:lnSpc>
                          <a:spcPct val="110000"/>
                        </a:lnSpc>
                      </a:pPr>
                      <a:r>
                        <a:rPr sz="1350" b="1">
                          <a:solidFill>
                            <a:srgbClr val="FFFFFF"/>
                          </a:solidFill>
                          <a:latin typeface="Aptos"/>
                        </a:rPr>
                        <a:t>RMSE</a:t>
                      </a:r>
                    </a:p>
                  </a:txBody>
                  <a:tcPr marL="91440" marR="73152" marT="64008" marB="64008" anchor="ctr">
                    <a:solidFill>
                      <a:srgbClr val="142236"/>
                    </a:solidFill>
                  </a:tcPr>
                </a:tc>
                <a:tc>
                  <a:txBody>
                    <a:bodyPr wrap="square"/>
                    <a:lstStyle/>
                    <a:p>
                      <a:pPr algn="ctr">
                        <a:lnSpc>
                          <a:spcPct val="110000"/>
                        </a:lnSpc>
                      </a:pPr>
                      <a:r>
                        <a:rPr sz="1350" b="1">
                          <a:solidFill>
                            <a:srgbClr val="FFFFFF"/>
                          </a:solidFill>
                          <a:latin typeface="Aptos"/>
                        </a:rPr>
                        <a:t>MAPE</a:t>
                      </a:r>
                    </a:p>
                  </a:txBody>
                  <a:tcPr marL="91440" marR="73152" marT="64008" marB="64008" anchor="ctr">
                    <a:solidFill>
                      <a:srgbClr val="142236"/>
                    </a:solidFill>
                  </a:tcPr>
                </a:tc>
              </a:tr>
              <a:tr h="621792">
                <a:tc>
                  <a:txBody>
                    <a:bodyPr wrap="square"/>
                    <a:lstStyle/>
                    <a:p>
                      <a:pPr algn="l">
                        <a:lnSpc>
                          <a:spcPct val="110000"/>
                        </a:lnSpc>
                      </a:pPr>
                      <a:r>
                        <a:rPr sz="1350">
                          <a:solidFill>
                            <a:srgbClr val="142236"/>
                          </a:solidFill>
                          <a:latin typeface="Aptos"/>
                        </a:rPr>
                        <a:t>EIA</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3</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11</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20.44</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26.01</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34.97</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0.388</a:t>
                      </a:r>
                    </a:p>
                  </a:txBody>
                  <a:tcPr marL="91440" marR="73152" marT="64008" marB="64008" anchor="ctr">
                    <a:solidFill>
                      <a:srgbClr val="FFFFFF"/>
                    </a:solidFill>
                  </a:tcPr>
                </a:tc>
              </a:tr>
              <a:tr h="621792">
                <a:tc>
                  <a:txBody>
                    <a:bodyPr wrap="square"/>
                    <a:lstStyle/>
                    <a:p>
                      <a:pPr algn="l">
                        <a:lnSpc>
                          <a:spcPct val="110000"/>
                        </a:lnSpc>
                      </a:pPr>
                      <a:r>
                        <a:rPr sz="1350">
                          <a:solidFill>
                            <a:srgbClr val="142236"/>
                          </a:solidFill>
                          <a:latin typeface="Aptos"/>
                        </a:rPr>
                        <a:t>EIA</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5</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9</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26.64</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28.09</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34.32</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0.381</a:t>
                      </a:r>
                    </a:p>
                  </a:txBody>
                  <a:tcPr marL="91440" marR="73152" marT="64008" marB="64008" anchor="ctr">
                    <a:solidFill>
                      <a:srgbClr val="F8F9FA"/>
                    </a:solidFill>
                  </a:tcPr>
                </a:tc>
              </a:tr>
              <a:tr h="621792">
                <a:tc>
                  <a:txBody>
                    <a:bodyPr wrap="square"/>
                    <a:lstStyle/>
                    <a:p>
                      <a:pPr algn="l">
                        <a:lnSpc>
                          <a:spcPct val="110000"/>
                        </a:lnSpc>
                      </a:pPr>
                      <a:r>
                        <a:rPr sz="1350">
                          <a:solidFill>
                            <a:srgbClr val="142236"/>
                          </a:solidFill>
                          <a:latin typeface="Aptos"/>
                        </a:rPr>
                        <a:t>Random Walk</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3</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11</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17.25</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31.66</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42.99</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0.438</a:t>
                      </a:r>
                    </a:p>
                  </a:txBody>
                  <a:tcPr marL="91440" marR="73152" marT="64008" marB="64008" anchor="ctr">
                    <a:solidFill>
                      <a:srgbClr val="FFFFFF"/>
                    </a:solidFill>
                  </a:tcPr>
                </a:tc>
              </a:tr>
              <a:tr h="621792">
                <a:tc>
                  <a:txBody>
                    <a:bodyPr wrap="square"/>
                    <a:lstStyle/>
                    <a:p>
                      <a:pPr algn="l">
                        <a:lnSpc>
                          <a:spcPct val="110000"/>
                        </a:lnSpc>
                      </a:pPr>
                      <a:r>
                        <a:rPr sz="1350">
                          <a:solidFill>
                            <a:srgbClr val="142236"/>
                          </a:solidFill>
                          <a:latin typeface="Aptos"/>
                        </a:rPr>
                        <a:t>Random Walk</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5</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9</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13.79</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38.90</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47.34</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0.512</a:t>
                      </a:r>
                    </a:p>
                  </a:txBody>
                  <a:tcPr marL="91440" marR="73152" marT="64008" marB="64008" anchor="ctr">
                    <a:solidFill>
                      <a:srgbClr val="F8F9FA"/>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Appendix B: Rolling Model Metrics</a:t>
            </a:r>
          </a:p>
        </p:txBody>
      </p:sp>
      <p:sp>
        <p:nvSpPr>
          <p:cNvPr id="3" name="Rectangle 2"/>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16</a:t>
            </a:r>
          </a:p>
        </p:txBody>
      </p:sp>
      <p:graphicFrame>
        <p:nvGraphicFramePr>
          <p:cNvPr id="5" name="Table 4"/>
          <p:cNvGraphicFramePr>
            <a:graphicFrameLocks noGrp="1"/>
          </p:cNvGraphicFramePr>
          <p:nvPr/>
        </p:nvGraphicFramePr>
        <p:xfrm>
          <a:off x="603504" y="1417320"/>
          <a:ext cx="8732520" cy="3108960"/>
        </p:xfrm>
        <a:graphic>
          <a:graphicData uri="http://schemas.openxmlformats.org/drawingml/2006/table">
            <a:tbl>
              <a:tblPr firstRow="1" bandRow="1">
                <a:tableStyleId>{5C22544A-7EE6-4342-B048-85BDC9FD1C3A}</a:tableStyleId>
              </a:tblPr>
              <a:tblGrid>
                <a:gridCol w="2331720"/>
                <a:gridCol w="1051560"/>
                <a:gridCol w="594360"/>
                <a:gridCol w="1234440"/>
                <a:gridCol w="1234440"/>
                <a:gridCol w="1234440"/>
                <a:gridCol w="1051560"/>
              </a:tblGrid>
              <a:tr h="621792">
                <a:tc>
                  <a:txBody>
                    <a:bodyPr wrap="square"/>
                    <a:lstStyle/>
                    <a:p>
                      <a:pPr algn="l">
                        <a:lnSpc>
                          <a:spcPct val="110000"/>
                        </a:lnSpc>
                      </a:pPr>
                      <a:r>
                        <a:rPr sz="1350" b="1">
                          <a:solidFill>
                            <a:srgbClr val="FFFFFF"/>
                          </a:solidFill>
                          <a:latin typeface="Aptos"/>
                        </a:rPr>
                        <a:t>Model</a:t>
                      </a:r>
                    </a:p>
                  </a:txBody>
                  <a:tcPr marL="91440" marR="73152" marT="64008" marB="64008" anchor="ctr">
                    <a:solidFill>
                      <a:srgbClr val="142236"/>
                    </a:solidFill>
                  </a:tcPr>
                </a:tc>
                <a:tc>
                  <a:txBody>
                    <a:bodyPr wrap="square"/>
                    <a:lstStyle/>
                    <a:p>
                      <a:pPr algn="ctr">
                        <a:lnSpc>
                          <a:spcPct val="110000"/>
                        </a:lnSpc>
                      </a:pPr>
                      <a:r>
                        <a:rPr sz="1350" b="1">
                          <a:solidFill>
                            <a:srgbClr val="FFFFFF"/>
                          </a:solidFill>
                          <a:latin typeface="Aptos"/>
                        </a:rPr>
                        <a:t>Horizon</a:t>
                      </a:r>
                    </a:p>
                  </a:txBody>
                  <a:tcPr marL="91440" marR="73152" marT="64008" marB="64008" anchor="ctr">
                    <a:solidFill>
                      <a:srgbClr val="142236"/>
                    </a:solidFill>
                  </a:tcPr>
                </a:tc>
                <a:tc>
                  <a:txBody>
                    <a:bodyPr wrap="square"/>
                    <a:lstStyle/>
                    <a:p>
                      <a:pPr algn="ctr">
                        <a:lnSpc>
                          <a:spcPct val="110000"/>
                        </a:lnSpc>
                      </a:pPr>
                      <a:r>
                        <a:rPr sz="1350" b="1">
                          <a:solidFill>
                            <a:srgbClr val="FFFFFF"/>
                          </a:solidFill>
                          <a:latin typeface="Aptos"/>
                        </a:rPr>
                        <a:t>N</a:t>
                      </a:r>
                    </a:p>
                  </a:txBody>
                  <a:tcPr marL="91440" marR="73152" marT="64008" marB="64008" anchor="ctr">
                    <a:solidFill>
                      <a:srgbClr val="142236"/>
                    </a:solidFill>
                  </a:tcPr>
                </a:tc>
                <a:tc>
                  <a:txBody>
                    <a:bodyPr wrap="square"/>
                    <a:lstStyle/>
                    <a:p>
                      <a:pPr algn="ctr">
                        <a:lnSpc>
                          <a:spcPct val="110000"/>
                        </a:lnSpc>
                      </a:pPr>
                      <a:r>
                        <a:rPr sz="1350" b="1">
                          <a:solidFill>
                            <a:srgbClr val="FFFFFF"/>
                          </a:solidFill>
                          <a:latin typeface="Aptos"/>
                        </a:rPr>
                        <a:t>ME</a:t>
                      </a:r>
                    </a:p>
                  </a:txBody>
                  <a:tcPr marL="91440" marR="73152" marT="64008" marB="64008" anchor="ctr">
                    <a:solidFill>
                      <a:srgbClr val="142236"/>
                    </a:solidFill>
                  </a:tcPr>
                </a:tc>
                <a:tc>
                  <a:txBody>
                    <a:bodyPr wrap="square"/>
                    <a:lstStyle/>
                    <a:p>
                      <a:pPr algn="ctr">
                        <a:lnSpc>
                          <a:spcPct val="110000"/>
                        </a:lnSpc>
                      </a:pPr>
                      <a:r>
                        <a:rPr sz="1350" b="1">
                          <a:solidFill>
                            <a:srgbClr val="FFFFFF"/>
                          </a:solidFill>
                          <a:latin typeface="Aptos"/>
                        </a:rPr>
                        <a:t>MAE</a:t>
                      </a:r>
                    </a:p>
                  </a:txBody>
                  <a:tcPr marL="91440" marR="73152" marT="64008" marB="64008" anchor="ctr">
                    <a:solidFill>
                      <a:srgbClr val="142236"/>
                    </a:solidFill>
                  </a:tcPr>
                </a:tc>
                <a:tc>
                  <a:txBody>
                    <a:bodyPr wrap="square"/>
                    <a:lstStyle/>
                    <a:p>
                      <a:pPr algn="ctr">
                        <a:lnSpc>
                          <a:spcPct val="110000"/>
                        </a:lnSpc>
                      </a:pPr>
                      <a:r>
                        <a:rPr sz="1350" b="1">
                          <a:solidFill>
                            <a:srgbClr val="FFFFFF"/>
                          </a:solidFill>
                          <a:latin typeface="Aptos"/>
                        </a:rPr>
                        <a:t>RMSE</a:t>
                      </a:r>
                    </a:p>
                  </a:txBody>
                  <a:tcPr marL="91440" marR="73152" marT="64008" marB="64008" anchor="ctr">
                    <a:solidFill>
                      <a:srgbClr val="142236"/>
                    </a:solidFill>
                  </a:tcPr>
                </a:tc>
                <a:tc>
                  <a:txBody>
                    <a:bodyPr wrap="square"/>
                    <a:lstStyle/>
                    <a:p>
                      <a:pPr algn="ctr">
                        <a:lnSpc>
                          <a:spcPct val="110000"/>
                        </a:lnSpc>
                      </a:pPr>
                      <a:r>
                        <a:rPr sz="1350" b="1">
                          <a:solidFill>
                            <a:srgbClr val="FFFFFF"/>
                          </a:solidFill>
                          <a:latin typeface="Aptos"/>
                        </a:rPr>
                        <a:t>MAPE</a:t>
                      </a:r>
                    </a:p>
                  </a:txBody>
                  <a:tcPr marL="91440" marR="73152" marT="64008" marB="64008" anchor="ctr">
                    <a:solidFill>
                      <a:srgbClr val="142236"/>
                    </a:solidFill>
                  </a:tcPr>
                </a:tc>
              </a:tr>
              <a:tr h="621792">
                <a:tc>
                  <a:txBody>
                    <a:bodyPr wrap="square"/>
                    <a:lstStyle/>
                    <a:p>
                      <a:pPr algn="l">
                        <a:lnSpc>
                          <a:spcPct val="110000"/>
                        </a:lnSpc>
                      </a:pPr>
                      <a:r>
                        <a:rPr sz="1350">
                          <a:solidFill>
                            <a:srgbClr val="142236"/>
                          </a:solidFill>
                          <a:latin typeface="Aptos"/>
                        </a:rPr>
                        <a:t>Rolling AR</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3</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26</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10.13</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35.33</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48.95</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0.447</a:t>
                      </a:r>
                    </a:p>
                  </a:txBody>
                  <a:tcPr marL="91440" marR="73152" marT="64008" marB="64008" anchor="ctr">
                    <a:solidFill>
                      <a:srgbClr val="FFFFFF"/>
                    </a:solidFill>
                  </a:tcPr>
                </a:tc>
              </a:tr>
              <a:tr h="621792">
                <a:tc>
                  <a:txBody>
                    <a:bodyPr wrap="square"/>
                    <a:lstStyle/>
                    <a:p>
                      <a:pPr algn="l">
                        <a:lnSpc>
                          <a:spcPct val="110000"/>
                        </a:lnSpc>
                      </a:pPr>
                      <a:r>
                        <a:rPr sz="1350">
                          <a:solidFill>
                            <a:srgbClr val="142236"/>
                          </a:solidFill>
                          <a:latin typeface="Aptos"/>
                        </a:rPr>
                        <a:t>Rolling AR</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5</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24</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-5.41</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35.95</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51.24</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0.379</a:t>
                      </a:r>
                    </a:p>
                  </a:txBody>
                  <a:tcPr marL="91440" marR="73152" marT="64008" marB="64008" anchor="ctr">
                    <a:solidFill>
                      <a:srgbClr val="F8F9FA"/>
                    </a:solidFill>
                  </a:tcPr>
                </a:tc>
              </a:tr>
              <a:tr h="621792">
                <a:tc>
                  <a:txBody>
                    <a:bodyPr wrap="square"/>
                    <a:lstStyle/>
                    <a:p>
                      <a:pPr algn="l">
                        <a:lnSpc>
                          <a:spcPct val="110000"/>
                        </a:lnSpc>
                      </a:pPr>
                      <a:r>
                        <a:rPr sz="1350">
                          <a:solidFill>
                            <a:srgbClr val="142236"/>
                          </a:solidFill>
                          <a:latin typeface="Aptos"/>
                        </a:rPr>
                        <a:t>Rolling AR + Futures</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3</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9</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17.96</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40.11</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52.51</a:t>
                      </a:r>
                    </a:p>
                  </a:txBody>
                  <a:tcPr marL="91440" marR="73152" marT="64008" marB="64008" anchor="ctr">
                    <a:solidFill>
                      <a:srgbClr val="FFFFFF"/>
                    </a:solidFill>
                  </a:tcPr>
                </a:tc>
                <a:tc>
                  <a:txBody>
                    <a:bodyPr wrap="square"/>
                    <a:lstStyle/>
                    <a:p>
                      <a:pPr algn="ctr">
                        <a:lnSpc>
                          <a:spcPct val="110000"/>
                        </a:lnSpc>
                      </a:pPr>
                      <a:r>
                        <a:rPr sz="1350">
                          <a:solidFill>
                            <a:srgbClr val="142236"/>
                          </a:solidFill>
                          <a:latin typeface="Aptos"/>
                        </a:rPr>
                        <a:t>0.549</a:t>
                      </a:r>
                    </a:p>
                  </a:txBody>
                  <a:tcPr marL="91440" marR="73152" marT="64008" marB="64008" anchor="ctr">
                    <a:solidFill>
                      <a:srgbClr val="FFFFFF"/>
                    </a:solidFill>
                  </a:tcPr>
                </a:tc>
              </a:tr>
              <a:tr h="621792">
                <a:tc>
                  <a:txBody>
                    <a:bodyPr wrap="square"/>
                    <a:lstStyle/>
                    <a:p>
                      <a:pPr algn="l">
                        <a:lnSpc>
                          <a:spcPct val="110000"/>
                        </a:lnSpc>
                      </a:pPr>
                      <a:r>
                        <a:rPr sz="1350">
                          <a:solidFill>
                            <a:srgbClr val="142236"/>
                          </a:solidFill>
                          <a:latin typeface="Aptos"/>
                        </a:rPr>
                        <a:t>Rolling AR + Futures</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5</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7</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7.57</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36.61</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53.23</a:t>
                      </a:r>
                    </a:p>
                  </a:txBody>
                  <a:tcPr marL="91440" marR="73152" marT="64008" marB="64008" anchor="ctr">
                    <a:solidFill>
                      <a:srgbClr val="F8F9FA"/>
                    </a:solidFill>
                  </a:tcPr>
                </a:tc>
                <a:tc>
                  <a:txBody>
                    <a:bodyPr wrap="square"/>
                    <a:lstStyle/>
                    <a:p>
                      <a:pPr algn="ctr">
                        <a:lnSpc>
                          <a:spcPct val="110000"/>
                        </a:lnSpc>
                      </a:pPr>
                      <a:r>
                        <a:rPr sz="1350">
                          <a:solidFill>
                            <a:srgbClr val="142236"/>
                          </a:solidFill>
                          <a:latin typeface="Aptos"/>
                        </a:rPr>
                        <a:t>0.539</a:t>
                      </a:r>
                    </a:p>
                  </a:txBody>
                  <a:tcPr marL="91440" marR="73152" marT="64008" marB="64008" anchor="ctr">
                    <a:solidFill>
                      <a:srgbClr val="F8F9FA"/>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Appendix C: Data Source Links</a:t>
            </a:r>
          </a:p>
        </p:txBody>
      </p:sp>
      <p:sp>
        <p:nvSpPr>
          <p:cNvPr id="3" name="Rectangle 2"/>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17</a:t>
            </a:r>
          </a:p>
        </p:txBody>
      </p:sp>
      <p:sp>
        <p:nvSpPr>
          <p:cNvPr id="5" name="TextBox 4"/>
          <p:cNvSpPr txBox="1"/>
          <p:nvPr/>
        </p:nvSpPr>
        <p:spPr>
          <a:xfrm>
            <a:off x="914400" y="1554480"/>
            <a:ext cx="9875520" cy="3291840"/>
          </a:xfrm>
          <a:prstGeom prst="rect">
            <a:avLst/>
          </a:prstGeom>
          <a:noFill/>
        </p:spPr>
        <p:txBody>
          <a:bodyPr wrap="square" anchor="t" lIns="36576" rIns="36576" tIns="36576" bIns="36576">
            <a:noAutofit/>
          </a:bodyPr>
          <a:lstStyle/>
          <a:p>
            <a:pPr algn="l">
              <a:lnSpc>
                <a:spcPct val="115000"/>
              </a:lnSpc>
            </a:pPr>
            <a:r>
              <a:rPr sz="1800">
                <a:solidFill>
                  <a:srgbClr val="142236"/>
                </a:solidFill>
                <a:latin typeface="Aptos"/>
              </a:rPr>
              <a:t>•  EIA Annual Energy Outlook Table 12 — eia.gov/aeo</a:t>
            </a:r>
          </a:p>
          <a:p>
            <a:pPr algn="l">
              <a:lnSpc>
                <a:spcPct val="115000"/>
              </a:lnSpc>
              <a:spcBef>
                <a:spcPts val="1000"/>
              </a:spcBef>
            </a:pPr>
            <a:r>
              <a:rPr sz="1800">
                <a:solidFill>
                  <a:srgbClr val="142236"/>
                </a:solidFill>
                <a:latin typeface="Aptos"/>
              </a:rPr>
              <a:t>•  FRED DCOILBRENTEU: Brent Spot Price — fred.stlouisfed.org</a:t>
            </a:r>
          </a:p>
          <a:p>
            <a:pPr algn="l">
              <a:lnSpc>
                <a:spcPct val="115000"/>
              </a:lnSpc>
              <a:spcBef>
                <a:spcPts val="1000"/>
              </a:spcBef>
            </a:pPr>
            <a:r>
              <a:rPr sz="1800">
                <a:solidFill>
                  <a:srgbClr val="142236"/>
                </a:solidFill>
                <a:latin typeface="Aptos"/>
              </a:rPr>
              <a:t>•  FRED CPIAUCSL: Consumer Price Index — fred.stlouisfed.org</a:t>
            </a:r>
          </a:p>
          <a:p>
            <a:pPr algn="l">
              <a:lnSpc>
                <a:spcPct val="115000"/>
              </a:lnSpc>
              <a:spcBef>
                <a:spcPts val="1000"/>
              </a:spcBef>
            </a:pPr>
            <a:r>
              <a:rPr sz="1800">
                <a:solidFill>
                  <a:srgbClr val="142236"/>
                </a:solidFill>
                <a:latin typeface="Aptos"/>
              </a:rPr>
              <a:t>•  Yahoo Finance BZ=F: Brent crude front-month futures proxy</a:t>
            </a:r>
          </a:p>
          <a:p>
            <a:pPr algn="l">
              <a:lnSpc>
                <a:spcPct val="115000"/>
              </a:lnSpc>
              <a:spcBef>
                <a:spcPts val="1000"/>
              </a:spcBef>
            </a:pPr>
            <a:r>
              <a:rPr sz="1800">
                <a:solidFill>
                  <a:srgbClr val="142236"/>
                </a:solidFill>
                <a:latin typeface="Aptos"/>
              </a:rPr>
              <a:t>•  World Bank Commodity Markets price archive — worldbank.org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94360" y="256032"/>
            <a:ext cx="10789920" cy="566928"/>
          </a:xfrm>
          <a:prstGeom prst="rect">
            <a:avLst/>
          </a:prstGeom>
          <a:noFill/>
        </p:spPr>
        <p:txBody>
          <a:bodyPr wrap="square" anchor="ctr" lIns="27432" rIns="27432" tIns="18288" bIns="18288">
            <a:noAutofit/>
          </a:bodyPr>
          <a:lstStyle/>
          <a:p>
            <a:pPr algn="l"/>
            <a:r>
              <a:rPr sz="2800" b="1">
                <a:solidFill>
                  <a:srgbClr val="142236"/>
                </a:solidFill>
                <a:latin typeface="Aptos"/>
              </a:rPr>
              <a:t>Appendix D: Reproducibility</a:t>
            </a:r>
          </a:p>
        </p:txBody>
      </p:sp>
      <p:sp>
        <p:nvSpPr>
          <p:cNvPr id="3" name="Rectangle 2"/>
          <p:cNvSpPr/>
          <p:nvPr/>
        </p:nvSpPr>
        <p:spPr>
          <a:xfrm>
            <a:off x="594360" y="1133856"/>
            <a:ext cx="1463040" cy="38100"/>
          </a:xfrm>
          <a:prstGeom prst="rect">
            <a:avLst/>
          </a:prstGeom>
          <a:solidFill>
            <a:srgbClr val="2D8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35640" y="6510528"/>
            <a:ext cx="777240" cy="201168"/>
          </a:xfrm>
          <a:prstGeom prst="rect">
            <a:avLst/>
          </a:prstGeom>
          <a:noFill/>
        </p:spPr>
        <p:txBody>
          <a:bodyPr wrap="square" anchor="ctr" lIns="27432" rIns="27432" tIns="18288" bIns="18288">
            <a:noAutofit/>
          </a:bodyPr>
          <a:lstStyle/>
          <a:p>
            <a:pPr algn="r"/>
            <a:r>
              <a:rPr sz="1000" b="0">
                <a:solidFill>
                  <a:srgbClr val="DAE2E8"/>
                </a:solidFill>
                <a:latin typeface="Aptos"/>
              </a:rPr>
              <a:t>18</a:t>
            </a:r>
          </a:p>
        </p:txBody>
      </p:sp>
      <p:sp>
        <p:nvSpPr>
          <p:cNvPr id="5" name="TextBox 4"/>
          <p:cNvSpPr txBox="1"/>
          <p:nvPr/>
        </p:nvSpPr>
        <p:spPr>
          <a:xfrm>
            <a:off x="914400" y="1554480"/>
            <a:ext cx="9875520" cy="3291840"/>
          </a:xfrm>
          <a:prstGeom prst="rect">
            <a:avLst/>
          </a:prstGeom>
          <a:noFill/>
        </p:spPr>
        <p:txBody>
          <a:bodyPr wrap="square" anchor="t" lIns="36576" rIns="36576" tIns="36576" bIns="36576">
            <a:noAutofit/>
          </a:bodyPr>
          <a:lstStyle/>
          <a:p>
            <a:pPr algn="l">
              <a:lnSpc>
                <a:spcPct val="115000"/>
              </a:lnSpc>
            </a:pPr>
            <a:r>
              <a:rPr sz="1800">
                <a:solidFill>
                  <a:srgbClr val="142236"/>
                </a:solidFill>
                <a:latin typeface="Aptos"/>
              </a:rPr>
              <a:t>•  Structured Python package: src/oil_forecast_project</a:t>
            </a:r>
          </a:p>
          <a:p>
            <a:pPr algn="l">
              <a:lnSpc>
                <a:spcPct val="115000"/>
              </a:lnSpc>
              <a:spcBef>
                <a:spcPts val="1000"/>
              </a:spcBef>
            </a:pPr>
            <a:r>
              <a:rPr sz="1800">
                <a:solidFill>
                  <a:srgbClr val="142236"/>
                </a:solidFill>
                <a:latin typeface="Aptos"/>
              </a:rPr>
              <a:t>•  Pipeline writes CSVs, charts, Excel workbook, and summary automatically</a:t>
            </a:r>
          </a:p>
          <a:p>
            <a:pPr algn="l">
              <a:lnSpc>
                <a:spcPct val="115000"/>
              </a:lnSpc>
              <a:spcBef>
                <a:spcPts val="1000"/>
              </a:spcBef>
            </a:pPr>
            <a:r>
              <a:rPr sz="1800">
                <a:solidFill>
                  <a:srgbClr val="142236"/>
                </a:solidFill>
                <a:latin typeface="Aptos"/>
              </a:rPr>
              <a:t>•  Tests cover metrics, CPI conversion, Brent aggregation, panel construction, and benchmark summary</a:t>
            </a:r>
          </a:p>
          <a:p>
            <a:pPr algn="l">
              <a:lnSpc>
                <a:spcPct val="115000"/>
              </a:lnSpc>
              <a:spcBef>
                <a:spcPts val="1000"/>
              </a:spcBef>
            </a:pPr>
            <a:r>
              <a:rPr sz="1800">
                <a:solidFill>
                  <a:srgbClr val="142236"/>
                </a:solidFill>
                <a:latin typeface="Aptos"/>
              </a:rPr>
              <a:t>•  Validation: pytest passes with 6 tests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